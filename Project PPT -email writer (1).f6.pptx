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256" r:id="rId2"/>
    <p:sldId id="406" r:id="rId3"/>
    <p:sldId id="257" r:id="rId4"/>
    <p:sldId id="258" r:id="rId5"/>
    <p:sldId id="261" r:id="rId6"/>
    <p:sldId id="404" r:id="rId7"/>
    <p:sldId id="428" r:id="rId8"/>
    <p:sldId id="405" r:id="rId9"/>
    <p:sldId id="407" r:id="rId10"/>
    <p:sldId id="417" r:id="rId11"/>
    <p:sldId id="424" r:id="rId12"/>
    <p:sldId id="425" r:id="rId13"/>
    <p:sldId id="430" r:id="rId14"/>
    <p:sldId id="426" r:id="rId15"/>
    <p:sldId id="427" r:id="rId16"/>
    <p:sldId id="415" r:id="rId17"/>
    <p:sldId id="416" r:id="rId18"/>
    <p:sldId id="431" r:id="rId19"/>
    <p:sldId id="429"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394" autoAdjust="0"/>
  </p:normalViewPr>
  <p:slideViewPr>
    <p:cSldViewPr snapToGrid="0">
      <p:cViewPr varScale="1">
        <p:scale>
          <a:sx n="78" d="100"/>
          <a:sy n="78" d="100"/>
        </p:scale>
        <p:origin x="850" y="5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neha reddy" userId="1dfd490885c3d7ec" providerId="LiveId" clId="{18C2975E-87D8-40CC-9196-3CCB546ABD43}"/>
    <pc:docChg chg="custSel modSld">
      <pc:chgData name="sneha reddy" userId="1dfd490885c3d7ec" providerId="LiveId" clId="{18C2975E-87D8-40CC-9196-3CCB546ABD43}" dt="2026-06-10T21:52:34.636" v="26" actId="14100"/>
      <pc:docMkLst>
        <pc:docMk/>
      </pc:docMkLst>
      <pc:sldChg chg="addSp delSp modSp mod">
        <pc:chgData name="sneha reddy" userId="1dfd490885c3d7ec" providerId="LiveId" clId="{18C2975E-87D8-40CC-9196-3CCB546ABD43}" dt="2026-06-10T21:52:34.636" v="26" actId="14100"/>
        <pc:sldMkLst>
          <pc:docMk/>
          <pc:sldMk cId="4206824667" sldId="427"/>
        </pc:sldMkLst>
        <pc:picChg chg="add del mod">
          <ac:chgData name="sneha reddy" userId="1dfd490885c3d7ec" providerId="LiveId" clId="{18C2975E-87D8-40CC-9196-3CCB546ABD43}" dt="2026-06-10T21:51:11.691" v="14" actId="21"/>
          <ac:picMkLst>
            <pc:docMk/>
            <pc:sldMk cId="4206824667" sldId="427"/>
            <ac:picMk id="3" creationId="{B530E5A0-7D59-9982-33C1-CBE1957A6161}"/>
          </ac:picMkLst>
        </pc:picChg>
        <pc:picChg chg="add mod">
          <ac:chgData name="sneha reddy" userId="1dfd490885c3d7ec" providerId="LiveId" clId="{18C2975E-87D8-40CC-9196-3CCB546ABD43}" dt="2026-06-10T21:52:34.636" v="26" actId="14100"/>
          <ac:picMkLst>
            <pc:docMk/>
            <pc:sldMk cId="4206824667" sldId="427"/>
            <ac:picMk id="4" creationId="{BE67D9B0-D9DF-DDCD-572F-356563C66AD5}"/>
          </ac:picMkLst>
        </pc:picChg>
        <pc:picChg chg="add mod">
          <ac:chgData name="sneha reddy" userId="1dfd490885c3d7ec" providerId="LiveId" clId="{18C2975E-87D8-40CC-9196-3CCB546ABD43}" dt="2026-06-10T21:52:25.513" v="25" actId="14100"/>
          <ac:picMkLst>
            <pc:docMk/>
            <pc:sldMk cId="4206824667" sldId="427"/>
            <ac:picMk id="6" creationId="{9E22E995-9E88-020E-95A4-D2E0DB3B7ABB}"/>
          </ac:picMkLst>
        </pc:picChg>
        <pc:picChg chg="add del mod">
          <ac:chgData name="sneha reddy" userId="1dfd490885c3d7ec" providerId="LiveId" clId="{18C2975E-87D8-40CC-9196-3CCB546ABD43}" dt="2026-06-10T21:51:14.944" v="15" actId="21"/>
          <ac:picMkLst>
            <pc:docMk/>
            <pc:sldMk cId="4206824667" sldId="427"/>
            <ac:picMk id="7" creationId="{74F0CC17-8E57-22D6-0969-9E12B0AA6685}"/>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6CDECA-B0E4-4A79-9C18-190139A2B7E4}" type="datetimeFigureOut">
              <a:rPr lang="en-IN" smtClean="0"/>
              <a:pPr/>
              <a:t>10-06-2026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3CA4F9-BF41-4E8E-9DD2-914BF099ACB8}" type="slidenum">
              <a:rPr lang="en-IN" smtClean="0"/>
              <a:pPr/>
              <a:t>‹#›</a:t>
            </a:fld>
            <a:endParaRPr lang="en-IN"/>
          </a:p>
        </p:txBody>
      </p:sp>
    </p:spTree>
    <p:extLst>
      <p:ext uri="{BB962C8B-B14F-4D97-AF65-F5344CB8AC3E}">
        <p14:creationId xmlns:p14="http://schemas.microsoft.com/office/powerpoint/2010/main" val="38024022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F493176-9B95-4971-8F50-166B02228DD3}" type="datetimeFigureOut">
              <a:rPr lang="en-IN" smtClean="0"/>
              <a:pPr/>
              <a:t>10-06-2026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729B0CD-5273-483B-9F76-2963FAB3E814}" type="slidenum">
              <a:rPr lang="en-IN" smtClean="0"/>
              <a:pPr/>
              <a:t>‹#›</a:t>
            </a:fld>
            <a:endParaRPr lang="en-IN"/>
          </a:p>
        </p:txBody>
      </p:sp>
    </p:spTree>
    <p:extLst>
      <p:ext uri="{BB962C8B-B14F-4D97-AF65-F5344CB8AC3E}">
        <p14:creationId xmlns:p14="http://schemas.microsoft.com/office/powerpoint/2010/main" val="4494524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F493176-9B95-4971-8F50-166B02228DD3}" type="datetimeFigureOut">
              <a:rPr lang="en-IN" smtClean="0"/>
              <a:pPr/>
              <a:t>10-06-2026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729B0CD-5273-483B-9F76-2963FAB3E814}" type="slidenum">
              <a:rPr lang="en-IN" smtClean="0"/>
              <a:pPr/>
              <a:t>‹#›</a:t>
            </a:fld>
            <a:endParaRPr lang="en-IN"/>
          </a:p>
        </p:txBody>
      </p:sp>
    </p:spTree>
    <p:extLst>
      <p:ext uri="{BB962C8B-B14F-4D97-AF65-F5344CB8AC3E}">
        <p14:creationId xmlns:p14="http://schemas.microsoft.com/office/powerpoint/2010/main" val="29422302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F493176-9B95-4971-8F50-166B02228DD3}" type="datetimeFigureOut">
              <a:rPr lang="en-IN" smtClean="0"/>
              <a:pPr/>
              <a:t>10-06-2026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729B0CD-5273-483B-9F76-2963FAB3E814}" type="slidenum">
              <a:rPr lang="en-IN" smtClean="0"/>
              <a:pPr/>
              <a:t>‹#›</a:t>
            </a:fld>
            <a:endParaRPr lang="en-IN"/>
          </a:p>
        </p:txBody>
      </p:sp>
    </p:spTree>
    <p:extLst>
      <p:ext uri="{BB962C8B-B14F-4D97-AF65-F5344CB8AC3E}">
        <p14:creationId xmlns:p14="http://schemas.microsoft.com/office/powerpoint/2010/main" val="32157077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F493176-9B95-4971-8F50-166B02228DD3}" type="datetimeFigureOut">
              <a:rPr lang="en-IN" smtClean="0"/>
              <a:pPr/>
              <a:t>10-06-2026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729B0CD-5273-483B-9F76-2963FAB3E814}" type="slidenum">
              <a:rPr lang="en-IN" smtClean="0"/>
              <a:pPr/>
              <a:t>‹#›</a:t>
            </a:fld>
            <a:endParaRPr lang="en-IN"/>
          </a:p>
        </p:txBody>
      </p:sp>
    </p:spTree>
    <p:extLst>
      <p:ext uri="{BB962C8B-B14F-4D97-AF65-F5344CB8AC3E}">
        <p14:creationId xmlns:p14="http://schemas.microsoft.com/office/powerpoint/2010/main" val="20287685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F493176-9B95-4971-8F50-166B02228DD3}" type="datetimeFigureOut">
              <a:rPr lang="en-IN" smtClean="0"/>
              <a:pPr/>
              <a:t>10-06-2026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729B0CD-5273-483B-9F76-2963FAB3E814}" type="slidenum">
              <a:rPr lang="en-IN" smtClean="0"/>
              <a:pPr/>
              <a:t>‹#›</a:t>
            </a:fld>
            <a:endParaRPr lang="en-IN"/>
          </a:p>
        </p:txBody>
      </p:sp>
    </p:spTree>
    <p:extLst>
      <p:ext uri="{BB962C8B-B14F-4D97-AF65-F5344CB8AC3E}">
        <p14:creationId xmlns:p14="http://schemas.microsoft.com/office/powerpoint/2010/main" val="5996595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F493176-9B95-4971-8F50-166B02228DD3}" type="datetimeFigureOut">
              <a:rPr lang="en-IN" smtClean="0"/>
              <a:pPr/>
              <a:t>10-06-2026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729B0CD-5273-483B-9F76-2963FAB3E814}" type="slidenum">
              <a:rPr lang="en-IN" smtClean="0"/>
              <a:pPr/>
              <a:t>‹#›</a:t>
            </a:fld>
            <a:endParaRPr lang="en-IN"/>
          </a:p>
        </p:txBody>
      </p:sp>
    </p:spTree>
    <p:extLst>
      <p:ext uri="{BB962C8B-B14F-4D97-AF65-F5344CB8AC3E}">
        <p14:creationId xmlns:p14="http://schemas.microsoft.com/office/powerpoint/2010/main" val="25455510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F493176-9B95-4971-8F50-166B02228DD3}" type="datetimeFigureOut">
              <a:rPr lang="en-IN" smtClean="0"/>
              <a:pPr/>
              <a:t>10-06-2026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729B0CD-5273-483B-9F76-2963FAB3E814}" type="slidenum">
              <a:rPr lang="en-IN" smtClean="0"/>
              <a:pPr/>
              <a:t>‹#›</a:t>
            </a:fld>
            <a:endParaRPr lang="en-IN"/>
          </a:p>
        </p:txBody>
      </p:sp>
    </p:spTree>
    <p:extLst>
      <p:ext uri="{BB962C8B-B14F-4D97-AF65-F5344CB8AC3E}">
        <p14:creationId xmlns:p14="http://schemas.microsoft.com/office/powerpoint/2010/main" val="4543474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F493176-9B95-4971-8F50-166B02228DD3}" type="datetimeFigureOut">
              <a:rPr lang="en-IN" smtClean="0"/>
              <a:pPr/>
              <a:t>10-06-2026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729B0CD-5273-483B-9F76-2963FAB3E814}" type="slidenum">
              <a:rPr lang="en-IN" smtClean="0"/>
              <a:pPr/>
              <a:t>‹#›</a:t>
            </a:fld>
            <a:endParaRPr lang="en-IN"/>
          </a:p>
        </p:txBody>
      </p:sp>
    </p:spTree>
    <p:extLst>
      <p:ext uri="{BB962C8B-B14F-4D97-AF65-F5344CB8AC3E}">
        <p14:creationId xmlns:p14="http://schemas.microsoft.com/office/powerpoint/2010/main" val="10415452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F493176-9B95-4971-8F50-166B02228DD3}" type="datetimeFigureOut">
              <a:rPr lang="en-IN" smtClean="0"/>
              <a:pPr/>
              <a:t>10-06-2026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729B0CD-5273-483B-9F76-2963FAB3E814}" type="slidenum">
              <a:rPr lang="en-IN" smtClean="0"/>
              <a:pPr/>
              <a:t>‹#›</a:t>
            </a:fld>
            <a:endParaRPr lang="en-IN"/>
          </a:p>
        </p:txBody>
      </p:sp>
    </p:spTree>
    <p:extLst>
      <p:ext uri="{BB962C8B-B14F-4D97-AF65-F5344CB8AC3E}">
        <p14:creationId xmlns:p14="http://schemas.microsoft.com/office/powerpoint/2010/main" val="4219825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F493176-9B95-4971-8F50-166B02228DD3}" type="datetimeFigureOut">
              <a:rPr lang="en-IN" smtClean="0"/>
              <a:pPr/>
              <a:t>10-06-2026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729B0CD-5273-483B-9F76-2963FAB3E814}" type="slidenum">
              <a:rPr lang="en-IN" smtClean="0"/>
              <a:pPr/>
              <a:t>‹#›</a:t>
            </a:fld>
            <a:endParaRPr lang="en-IN"/>
          </a:p>
        </p:txBody>
      </p:sp>
    </p:spTree>
    <p:extLst>
      <p:ext uri="{BB962C8B-B14F-4D97-AF65-F5344CB8AC3E}">
        <p14:creationId xmlns:p14="http://schemas.microsoft.com/office/powerpoint/2010/main" val="8075651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F493176-9B95-4971-8F50-166B02228DD3}" type="datetimeFigureOut">
              <a:rPr lang="en-IN" smtClean="0"/>
              <a:pPr/>
              <a:t>10-06-2026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729B0CD-5273-483B-9F76-2963FAB3E814}" type="slidenum">
              <a:rPr lang="en-IN" smtClean="0"/>
              <a:pPr/>
              <a:t>‹#›</a:t>
            </a:fld>
            <a:endParaRPr lang="en-IN"/>
          </a:p>
        </p:txBody>
      </p:sp>
    </p:spTree>
    <p:extLst>
      <p:ext uri="{BB962C8B-B14F-4D97-AF65-F5344CB8AC3E}">
        <p14:creationId xmlns:p14="http://schemas.microsoft.com/office/powerpoint/2010/main" val="28407547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F493176-9B95-4971-8F50-166B02228DD3}" type="datetimeFigureOut">
              <a:rPr lang="en-IN" smtClean="0"/>
              <a:pPr/>
              <a:t>10-06-2026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29B0CD-5273-483B-9F76-2963FAB3E814}" type="slidenum">
              <a:rPr lang="en-IN" smtClean="0"/>
              <a:pPr/>
              <a:t>‹#›</a:t>
            </a:fld>
            <a:endParaRPr lang="en-IN"/>
          </a:p>
        </p:txBody>
      </p:sp>
    </p:spTree>
    <p:extLst>
      <p:ext uri="{BB962C8B-B14F-4D97-AF65-F5344CB8AC3E}">
        <p14:creationId xmlns:p14="http://schemas.microsoft.com/office/powerpoint/2010/main" val="2032985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hyperlink" Target="https://docs.python.org/" TargetMode="External"/><Relationship Id="rId2" Type="http://schemas.openxmlformats.org/officeDocument/2006/relationships/hyperlink" Target="https://flask.palletsprojects.com/" TargetMode="External"/><Relationship Id="rId1" Type="http://schemas.openxmlformats.org/officeDocument/2006/relationships/slideLayout" Target="../slideLayouts/slideLayout6.xml"/><Relationship Id="rId6" Type="http://schemas.openxmlformats.org/officeDocument/2006/relationships/hyperlink" Target="https://developer.mozilla.org/en-US/docs/Web/API/Web_Speech_API" TargetMode="External"/><Relationship Id="rId5" Type="http://schemas.openxmlformats.org/officeDocument/2006/relationships/hyperlink" Target="https://www.ibm.com/topics/natural-language-processing" TargetMode="External"/><Relationship Id="rId4" Type="http://schemas.openxmlformats.org/officeDocument/2006/relationships/hyperlink" Target="https://developer.mozilla.org/"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a:extLst>
              <a:ext uri="{FF2B5EF4-FFF2-40B4-BE49-F238E27FC236}">
                <a16:creationId xmlns:a16="http://schemas.microsoft.com/office/drawing/2014/main" id="{781F626B-BF00-464D-8C49-8B42BDFF012D}"/>
              </a:ext>
            </a:extLst>
          </p:cNvPr>
          <p:cNvSpPr txBox="1">
            <a:spLocks/>
          </p:cNvSpPr>
          <p:nvPr/>
        </p:nvSpPr>
        <p:spPr>
          <a:xfrm>
            <a:off x="2249658" y="1323384"/>
            <a:ext cx="8102009" cy="531035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94728"/>
            <a:endParaRPr lang="en-IN" sz="2200" dirty="0">
              <a:latin typeface="Times New Roman" panose="02020603050405020304" pitchFamily="18" charset="0"/>
              <a:cs typeface="Times New Roman" panose="02020603050405020304" pitchFamily="18" charset="0"/>
            </a:endParaRPr>
          </a:p>
          <a:p>
            <a:pPr marL="194728"/>
            <a:r>
              <a:rPr lang="en-IN" sz="2200" dirty="0">
                <a:latin typeface="Times New Roman" panose="02020603050405020304" pitchFamily="18" charset="0"/>
                <a:cs typeface="Times New Roman" panose="02020603050405020304" pitchFamily="18" charset="0"/>
              </a:rPr>
              <a:t>A MINI PROJECT ON</a:t>
            </a:r>
          </a:p>
          <a:p>
            <a:pPr marL="194728"/>
            <a:endParaRPr lang="en-IN" sz="2000" b="1" dirty="0">
              <a:solidFill>
                <a:srgbClr val="000000"/>
              </a:solidFill>
              <a:latin typeface="Times New Roman" panose="02020603050405020304" pitchFamily="18" charset="0"/>
              <a:cs typeface="Times New Roman" panose="02020603050405020304" pitchFamily="18" charset="0"/>
            </a:endParaRPr>
          </a:p>
          <a:p>
            <a:pPr marL="194728">
              <a:lnSpc>
                <a:spcPct val="150000"/>
              </a:lnSpc>
            </a:pPr>
            <a:endParaRPr lang="en-IN" sz="2200" b="1" dirty="0">
              <a:solidFill>
                <a:srgbClr val="000000"/>
              </a:solidFill>
              <a:latin typeface="Times New Roman" panose="02020603050405020304" pitchFamily="18" charset="0"/>
              <a:cs typeface="Times New Roman" panose="02020603050405020304" pitchFamily="18" charset="0"/>
            </a:endParaRPr>
          </a:p>
          <a:p>
            <a:pPr marL="194728">
              <a:lnSpc>
                <a:spcPct val="100000"/>
              </a:lnSpc>
            </a:pPr>
            <a:endParaRPr lang="en-IN" b="1" dirty="0">
              <a:solidFill>
                <a:srgbClr val="000000"/>
              </a:solidFill>
              <a:latin typeface="Times New Roman" panose="02020603050405020304" pitchFamily="18" charset="0"/>
              <a:cs typeface="Times New Roman" panose="02020603050405020304" pitchFamily="18" charset="0"/>
            </a:endParaRPr>
          </a:p>
        </p:txBody>
      </p:sp>
      <p:sp>
        <p:nvSpPr>
          <p:cNvPr id="5" name="Slide Number Placeholder 3">
            <a:extLst>
              <a:ext uri="{FF2B5EF4-FFF2-40B4-BE49-F238E27FC236}">
                <a16:creationId xmlns:a16="http://schemas.microsoft.com/office/drawing/2014/main" id="{611C82AD-7A81-4E1F-83F5-A6E316105B36}"/>
              </a:ext>
            </a:extLst>
          </p:cNvPr>
          <p:cNvSpPr>
            <a:spLocks noGrp="1"/>
          </p:cNvSpPr>
          <p:nvPr>
            <p:ph type="sldNum" sz="quarter" idx="12"/>
          </p:nvPr>
        </p:nvSpPr>
        <p:spPr>
          <a:xfrm>
            <a:off x="11296611" y="6217623"/>
            <a:ext cx="731600" cy="524800"/>
          </a:xfrm>
        </p:spPr>
        <p:txBody>
          <a:bodyPr/>
          <a:lstStyle/>
          <a:p>
            <a:pPr defTabSz="1219170"/>
            <a:fld id="{00000000-1234-1234-1234-123412341234}" type="slidenum">
              <a:rPr lang="en">
                <a:solidFill>
                  <a:prstClr val="black">
                    <a:tint val="75000"/>
                  </a:prstClr>
                </a:solidFill>
                <a:latin typeface="Calibri" panose="020F0502020204030204"/>
              </a:rPr>
              <a:pPr defTabSz="1219170"/>
              <a:t>1</a:t>
            </a:fld>
            <a:endParaRPr lang="en" dirty="0">
              <a:solidFill>
                <a:prstClr val="black">
                  <a:tint val="75000"/>
                </a:prstClr>
              </a:solidFill>
              <a:latin typeface="Calibri" panose="020F0502020204030204"/>
            </a:endParaRPr>
          </a:p>
        </p:txBody>
      </p:sp>
      <p:sp>
        <p:nvSpPr>
          <p:cNvPr id="6" name="Rectangle 12">
            <a:extLst>
              <a:ext uri="{FF2B5EF4-FFF2-40B4-BE49-F238E27FC236}">
                <a16:creationId xmlns:a16="http://schemas.microsoft.com/office/drawing/2014/main" id="{C1D6794B-6E68-473B-A6BC-625297403A71}"/>
              </a:ext>
            </a:extLst>
          </p:cNvPr>
          <p:cNvSpPr>
            <a:spLocks noChangeArrowheads="1"/>
          </p:cNvSpPr>
          <p:nvPr/>
        </p:nvSpPr>
        <p:spPr bwMode="auto">
          <a:xfrm>
            <a:off x="1524001" y="58582"/>
            <a:ext cx="246286"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21920" tIns="60960" rIns="121920" bIns="60960" numCol="1" anchor="ctr" anchorCtr="0" compatLnSpc="1">
            <a:prstTxWarp prst="textNoShape">
              <a:avLst/>
            </a:prstTxWarp>
            <a:spAutoFit/>
          </a:bodyPr>
          <a:lstStyle/>
          <a:p>
            <a:pPr defTabSz="1219170"/>
            <a:endParaRPr lang="en-IN" sz="2400" dirty="0">
              <a:solidFill>
                <a:prstClr val="black"/>
              </a:solidFill>
              <a:latin typeface="Calibri" panose="020F0502020204030204"/>
            </a:endParaRPr>
          </a:p>
        </p:txBody>
      </p:sp>
      <p:sp>
        <p:nvSpPr>
          <p:cNvPr id="8" name="Rectangle 13">
            <a:extLst>
              <a:ext uri="{FF2B5EF4-FFF2-40B4-BE49-F238E27FC236}">
                <a16:creationId xmlns:a16="http://schemas.microsoft.com/office/drawing/2014/main" id="{74DA80E5-C61A-4C90-8BE2-FFF6579AE73A}"/>
              </a:ext>
            </a:extLst>
          </p:cNvPr>
          <p:cNvSpPr>
            <a:spLocks noChangeArrowheads="1"/>
          </p:cNvSpPr>
          <p:nvPr/>
        </p:nvSpPr>
        <p:spPr bwMode="auto">
          <a:xfrm>
            <a:off x="3069195" y="467349"/>
            <a:ext cx="7492125" cy="8480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169280" rIns="23276" bIns="0" numCol="1" anchor="ctr" anchorCtr="0" compatLnSpc="1">
            <a:prstTxWarp prst="textNoShape">
              <a:avLst/>
            </a:prstTxWarp>
            <a:spAutoFit/>
          </a:bodyPr>
          <a:lstStyle/>
          <a:p>
            <a:pPr algn="ctr" defTabSz="1219170" eaLnBrk="0" fontAlgn="base" hangingPunct="0">
              <a:spcBef>
                <a:spcPct val="0"/>
              </a:spcBef>
              <a:spcAft>
                <a:spcPct val="0"/>
              </a:spcAft>
            </a:pPr>
            <a:r>
              <a:rPr lang="en-US" altLang="en-US" sz="2800" dirty="0">
                <a:solidFill>
                  <a:prstClr val="black"/>
                </a:solidFill>
                <a:latin typeface="Times New Roman" panose="02020603050405020304" pitchFamily="18" charset="0"/>
                <a:cs typeface="Times New Roman" panose="02020603050405020304" pitchFamily="18" charset="0"/>
              </a:rPr>
              <a:t>Computer Society of India – Hyderabad Chapter</a:t>
            </a:r>
          </a:p>
          <a:p>
            <a:pPr algn="ctr" defTabSz="1219170" eaLnBrk="0" fontAlgn="base" hangingPunct="0">
              <a:spcBef>
                <a:spcPct val="0"/>
              </a:spcBef>
              <a:spcAft>
                <a:spcPct val="0"/>
              </a:spcAft>
            </a:pPr>
            <a:endParaRPr lang="en-US" altLang="en-US" sz="1600" b="1" u="sng" dirty="0">
              <a:solidFill>
                <a:prstClr val="black"/>
              </a:solidFill>
              <a:latin typeface="Calibri" panose="020F0502020204030204" pitchFamily="34" charset="0"/>
              <a:cs typeface="Times New Roman" panose="02020603050405020304" pitchFamily="18" charset="0"/>
            </a:endParaRPr>
          </a:p>
        </p:txBody>
      </p:sp>
      <p:sp>
        <p:nvSpPr>
          <p:cNvPr id="9" name="Text Placeholder 2">
            <a:extLst>
              <a:ext uri="{FF2B5EF4-FFF2-40B4-BE49-F238E27FC236}">
                <a16:creationId xmlns:a16="http://schemas.microsoft.com/office/drawing/2014/main" id="{E7AB7CA7-0C1D-418A-A672-C1063AC1972F}"/>
              </a:ext>
            </a:extLst>
          </p:cNvPr>
          <p:cNvSpPr txBox="1">
            <a:spLocks/>
          </p:cNvSpPr>
          <p:nvPr/>
        </p:nvSpPr>
        <p:spPr>
          <a:xfrm>
            <a:off x="1840333" y="2691599"/>
            <a:ext cx="8102009" cy="1607239"/>
          </a:xfrm>
          <a:prstGeom prst="rect">
            <a:avLst/>
          </a:prstGeom>
        </p:spPr>
        <p:txBody>
          <a:bodyPr spcFirstLastPara="1" vert="horz" wrap="square" lIns="91425" tIns="91425" rIns="91425" bIns="91425" rtlCol="0" anchor="t" anchorCtr="0">
            <a:noAutofit/>
          </a:bodyPr>
          <a:lstStyle>
            <a:lvl1pPr marL="609585" lvl="0" indent="-414856" algn="l" defTabSz="914377" rtl="0" eaLnBrk="1" latinLnBrk="0" hangingPunct="1">
              <a:lnSpc>
                <a:spcPct val="90000"/>
              </a:lnSpc>
              <a:spcBef>
                <a:spcPts val="0"/>
              </a:spcBef>
              <a:spcAft>
                <a:spcPts val="0"/>
              </a:spcAft>
              <a:buSzPts val="1300"/>
              <a:buFont typeface="Arial" panose="020B0604020202020204" pitchFamily="34" charset="0"/>
              <a:buChar char="●"/>
              <a:defRPr sz="2800" kern="1200">
                <a:solidFill>
                  <a:schemeClr val="tx1"/>
                </a:solidFill>
                <a:latin typeface="+mn-lt"/>
                <a:ea typeface="+mn-ea"/>
                <a:cs typeface="+mn-cs"/>
              </a:defRPr>
            </a:lvl1pPr>
            <a:lvl2pPr marL="1219170" lvl="1" indent="-397923" algn="l" defTabSz="914377" rtl="0" eaLnBrk="1" latinLnBrk="0" hangingPunct="1">
              <a:lnSpc>
                <a:spcPct val="90000"/>
              </a:lnSpc>
              <a:spcBef>
                <a:spcPts val="2133"/>
              </a:spcBef>
              <a:spcAft>
                <a:spcPts val="0"/>
              </a:spcAft>
              <a:buSzPts val="1100"/>
              <a:buFont typeface="Arial" panose="020B0604020202020204" pitchFamily="34" charset="0"/>
              <a:buChar char="○"/>
              <a:defRPr sz="2400" kern="1200">
                <a:solidFill>
                  <a:schemeClr val="tx1"/>
                </a:solidFill>
                <a:latin typeface="+mn-lt"/>
                <a:ea typeface="+mn-ea"/>
                <a:cs typeface="+mn-cs"/>
              </a:defRPr>
            </a:lvl2pPr>
            <a:lvl3pPr marL="1828754" lvl="2" indent="-397923" algn="l" defTabSz="914377" rtl="0" eaLnBrk="1" latinLnBrk="0" hangingPunct="1">
              <a:lnSpc>
                <a:spcPct val="90000"/>
              </a:lnSpc>
              <a:spcBef>
                <a:spcPts val="2133"/>
              </a:spcBef>
              <a:spcAft>
                <a:spcPts val="0"/>
              </a:spcAft>
              <a:buSzPts val="1100"/>
              <a:buFont typeface="Arial" panose="020B0604020202020204" pitchFamily="34" charset="0"/>
              <a:buChar char="■"/>
              <a:defRPr sz="2000" kern="1200">
                <a:solidFill>
                  <a:schemeClr val="tx1"/>
                </a:solidFill>
                <a:latin typeface="+mn-lt"/>
                <a:ea typeface="+mn-ea"/>
                <a:cs typeface="+mn-cs"/>
              </a:defRPr>
            </a:lvl3pPr>
            <a:lvl4pPr marL="2438339" lvl="3" indent="-397923" algn="l" defTabSz="914377" rtl="0" eaLnBrk="1" latinLnBrk="0" hangingPunct="1">
              <a:lnSpc>
                <a:spcPct val="90000"/>
              </a:lnSpc>
              <a:spcBef>
                <a:spcPts val="2133"/>
              </a:spcBef>
              <a:spcAft>
                <a:spcPts val="0"/>
              </a:spcAft>
              <a:buSzPts val="1100"/>
              <a:buFont typeface="Arial" panose="020B0604020202020204" pitchFamily="34" charset="0"/>
              <a:buChar char="●"/>
              <a:defRPr sz="1800" kern="1200">
                <a:solidFill>
                  <a:schemeClr val="tx1"/>
                </a:solidFill>
                <a:latin typeface="+mn-lt"/>
                <a:ea typeface="+mn-ea"/>
                <a:cs typeface="+mn-cs"/>
              </a:defRPr>
            </a:lvl4pPr>
            <a:lvl5pPr marL="3047924" lvl="4" indent="-397923" algn="l" defTabSz="914377" rtl="0" eaLnBrk="1" latinLnBrk="0" hangingPunct="1">
              <a:lnSpc>
                <a:spcPct val="90000"/>
              </a:lnSpc>
              <a:spcBef>
                <a:spcPts val="2133"/>
              </a:spcBef>
              <a:spcAft>
                <a:spcPts val="0"/>
              </a:spcAft>
              <a:buSzPts val="1100"/>
              <a:buFont typeface="Arial" panose="020B0604020202020204" pitchFamily="34" charset="0"/>
              <a:buChar char="○"/>
              <a:defRPr sz="1800" kern="1200">
                <a:solidFill>
                  <a:schemeClr val="tx1"/>
                </a:solidFill>
                <a:latin typeface="+mn-lt"/>
                <a:ea typeface="+mn-ea"/>
                <a:cs typeface="+mn-cs"/>
              </a:defRPr>
            </a:lvl5pPr>
            <a:lvl6pPr marL="3657509" lvl="5" indent="-397923" algn="l" defTabSz="914377" rtl="0" eaLnBrk="1" latinLnBrk="0" hangingPunct="1">
              <a:lnSpc>
                <a:spcPct val="90000"/>
              </a:lnSpc>
              <a:spcBef>
                <a:spcPts val="2133"/>
              </a:spcBef>
              <a:spcAft>
                <a:spcPts val="0"/>
              </a:spcAft>
              <a:buSzPts val="1100"/>
              <a:buFont typeface="Arial" panose="020B0604020202020204" pitchFamily="34" charset="0"/>
              <a:buChar char="■"/>
              <a:defRPr sz="1800" kern="1200">
                <a:solidFill>
                  <a:schemeClr val="tx1"/>
                </a:solidFill>
                <a:latin typeface="+mn-lt"/>
                <a:ea typeface="+mn-ea"/>
                <a:cs typeface="+mn-cs"/>
              </a:defRPr>
            </a:lvl6pPr>
            <a:lvl7pPr marL="4267093" lvl="6" indent="-397923" algn="l" defTabSz="914377" rtl="0" eaLnBrk="1" latinLnBrk="0" hangingPunct="1">
              <a:lnSpc>
                <a:spcPct val="90000"/>
              </a:lnSpc>
              <a:spcBef>
                <a:spcPts val="2133"/>
              </a:spcBef>
              <a:spcAft>
                <a:spcPts val="0"/>
              </a:spcAft>
              <a:buSzPts val="1100"/>
              <a:buFont typeface="Arial" panose="020B0604020202020204" pitchFamily="34" charset="0"/>
              <a:buChar char="●"/>
              <a:defRPr sz="1800" kern="1200">
                <a:solidFill>
                  <a:schemeClr val="tx1"/>
                </a:solidFill>
                <a:latin typeface="+mn-lt"/>
                <a:ea typeface="+mn-ea"/>
                <a:cs typeface="+mn-cs"/>
              </a:defRPr>
            </a:lvl7pPr>
            <a:lvl8pPr marL="4876678" lvl="7" indent="-397923" algn="l" defTabSz="914377" rtl="0" eaLnBrk="1" latinLnBrk="0" hangingPunct="1">
              <a:lnSpc>
                <a:spcPct val="90000"/>
              </a:lnSpc>
              <a:spcBef>
                <a:spcPts val="2133"/>
              </a:spcBef>
              <a:spcAft>
                <a:spcPts val="0"/>
              </a:spcAft>
              <a:buSzPts val="1100"/>
              <a:buFont typeface="Arial" panose="020B0604020202020204" pitchFamily="34" charset="0"/>
              <a:buChar char="○"/>
              <a:defRPr sz="1800" kern="1200">
                <a:solidFill>
                  <a:schemeClr val="tx1"/>
                </a:solidFill>
                <a:latin typeface="+mn-lt"/>
                <a:ea typeface="+mn-ea"/>
                <a:cs typeface="+mn-cs"/>
              </a:defRPr>
            </a:lvl8pPr>
            <a:lvl9pPr marL="5486263" lvl="8" indent="-397923" algn="l" defTabSz="914377" rtl="0" eaLnBrk="1" latinLnBrk="0" hangingPunct="1">
              <a:lnSpc>
                <a:spcPct val="90000"/>
              </a:lnSpc>
              <a:spcBef>
                <a:spcPts val="2133"/>
              </a:spcBef>
              <a:spcAft>
                <a:spcPts val="2133"/>
              </a:spcAft>
              <a:buSzPts val="1100"/>
              <a:buFont typeface="Arial" panose="020B0604020202020204" pitchFamily="34" charset="0"/>
              <a:buChar char="■"/>
              <a:defRPr sz="1800" kern="1200">
                <a:solidFill>
                  <a:schemeClr val="tx1"/>
                </a:solidFill>
                <a:latin typeface="+mn-lt"/>
                <a:ea typeface="+mn-ea"/>
                <a:cs typeface="+mn-cs"/>
              </a:defRPr>
            </a:lvl9pPr>
          </a:lstStyle>
          <a:p>
            <a:pPr marL="194728" indent="0" algn="ctr">
              <a:buNone/>
            </a:pPr>
            <a:endParaRPr lang="en" sz="2667" b="1" dirty="0">
              <a:solidFill>
                <a:srgbClr val="000000"/>
              </a:solidFill>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D7BD4F44-69F8-4729-AE3C-FA82A1A202DE}"/>
              </a:ext>
            </a:extLst>
          </p:cNvPr>
          <p:cNvSpPr/>
          <p:nvPr/>
        </p:nvSpPr>
        <p:spPr>
          <a:xfrm>
            <a:off x="2026398" y="2975265"/>
            <a:ext cx="7690808" cy="3108543"/>
          </a:xfrm>
          <a:prstGeom prst="rect">
            <a:avLst/>
          </a:prstGeom>
        </p:spPr>
        <p:txBody>
          <a:bodyPr wrap="square">
            <a:spAutoFit/>
          </a:bodyPr>
          <a:lstStyle/>
          <a:p>
            <a:pPr algn="ctr"/>
            <a:endParaRPr lang="en-US" sz="2000" dirty="0">
              <a:latin typeface="Times New Roman" pitchFamily="18" charset="0"/>
              <a:cs typeface="Times New Roman" pitchFamily="18" charset="0"/>
            </a:endParaRPr>
          </a:p>
          <a:p>
            <a:pPr algn="ctr"/>
            <a:r>
              <a:rPr lang="en-US" sz="2000" dirty="0">
                <a:latin typeface="Times New Roman" pitchFamily="18" charset="0"/>
                <a:cs typeface="Times New Roman" pitchFamily="18" charset="0"/>
              </a:rPr>
              <a:t>UNDER THE GUIDANCE OF</a:t>
            </a:r>
          </a:p>
          <a:p>
            <a:pPr algn="ctr"/>
            <a:r>
              <a:rPr lang="en-US" sz="2000" dirty="0">
                <a:latin typeface="Times New Roman" pitchFamily="18" charset="0"/>
                <a:cs typeface="Times New Roman" pitchFamily="18" charset="0"/>
              </a:rPr>
              <a:t> </a:t>
            </a:r>
            <a:endParaRPr lang="en-US" sz="2000" b="1" dirty="0">
              <a:latin typeface="Times New Roman" pitchFamily="18" charset="0"/>
              <a:cs typeface="Times New Roman" pitchFamily="18" charset="0"/>
            </a:endParaRPr>
          </a:p>
          <a:p>
            <a:pPr algn="ctr"/>
            <a:r>
              <a:rPr lang="en-US" sz="2000" b="1" dirty="0">
                <a:latin typeface="Times New Roman" pitchFamily="18" charset="0"/>
                <a:cs typeface="Times New Roman" pitchFamily="18" charset="0"/>
              </a:rPr>
              <a:t>Prof.. Rajashree Sutrawe</a:t>
            </a:r>
          </a:p>
          <a:p>
            <a:pPr algn="ctr"/>
            <a:r>
              <a:rPr lang="en-US" sz="2000" b="1" dirty="0">
                <a:latin typeface="Times New Roman" pitchFamily="18" charset="0"/>
                <a:cs typeface="Times New Roman" pitchFamily="18" charset="0"/>
              </a:rPr>
              <a:t>MC Member, CSI Hyderabad Chapter</a:t>
            </a:r>
          </a:p>
          <a:p>
            <a:pPr algn="ctr"/>
            <a:endParaRPr lang="en-US" sz="2000" dirty="0">
              <a:latin typeface="Times New Roman" pitchFamily="18" charset="0"/>
              <a:cs typeface="Times New Roman" pitchFamily="18" charset="0"/>
            </a:endParaRPr>
          </a:p>
          <a:p>
            <a:pPr algn="ctr"/>
            <a:r>
              <a:rPr lang="en-US" sz="2000" dirty="0">
                <a:latin typeface="Times New Roman" pitchFamily="18" charset="0"/>
                <a:cs typeface="Times New Roman" pitchFamily="18" charset="0"/>
              </a:rPr>
              <a:t>BY</a:t>
            </a:r>
          </a:p>
          <a:p>
            <a:pPr algn="ctr"/>
            <a:endParaRPr lang="en-US" sz="2000" b="1" dirty="0">
              <a:latin typeface="Times New Roman" pitchFamily="18" charset="0"/>
              <a:cs typeface="Times New Roman" pitchFamily="18" charset="0"/>
            </a:endParaRPr>
          </a:p>
          <a:p>
            <a:r>
              <a:rPr lang="en-IN" sz="1800" b="1" i="0" u="none" strike="noStrike" dirty="0">
                <a:solidFill>
                  <a:srgbClr val="000000"/>
                </a:solidFill>
                <a:effectLst/>
                <a:latin typeface="Calibri" panose="020F0502020204030204" pitchFamily="34" charset="0"/>
              </a:rPr>
              <a:t>	</a:t>
            </a:r>
            <a:r>
              <a:rPr lang="en-IN" b="1" dirty="0">
                <a:solidFill>
                  <a:srgbClr val="000000"/>
                </a:solidFill>
                <a:latin typeface="Calibri" panose="020F0502020204030204" pitchFamily="34" charset="0"/>
              </a:rPr>
              <a:t>                         </a:t>
            </a:r>
            <a:r>
              <a:rPr lang="en-IN" b="1" dirty="0" err="1">
                <a:solidFill>
                  <a:srgbClr val="000000"/>
                </a:solidFill>
                <a:latin typeface="Times New Roman" panose="02020603050405020304" pitchFamily="18" charset="0"/>
                <a:cs typeface="Times New Roman" panose="02020603050405020304" pitchFamily="18" charset="0"/>
              </a:rPr>
              <a:t>Komirelly</a:t>
            </a:r>
            <a:r>
              <a:rPr lang="en-IN" b="1" dirty="0">
                <a:solidFill>
                  <a:srgbClr val="000000"/>
                </a:solidFill>
                <a:latin typeface="Times New Roman" panose="02020603050405020304" pitchFamily="18" charset="0"/>
                <a:cs typeface="Times New Roman" panose="02020603050405020304" pitchFamily="18" charset="0"/>
              </a:rPr>
              <a:t> Sneha</a:t>
            </a:r>
            <a:r>
              <a:rPr lang="en-IN" sz="1800" b="1" i="0" u="none" strike="noStrike" dirty="0">
                <a:solidFill>
                  <a:srgbClr val="000000"/>
                </a:solidFill>
                <a:effectLst/>
                <a:latin typeface="Times New Roman" panose="02020603050405020304" pitchFamily="18" charset="0"/>
                <a:cs typeface="Times New Roman" panose="02020603050405020304" pitchFamily="18" charset="0"/>
              </a:rPr>
              <a:t>     (23891A05F6)</a:t>
            </a:r>
            <a:r>
              <a:rPr lang="en-IN" b="1" dirty="0">
                <a:latin typeface="Times New Roman" panose="02020603050405020304" pitchFamily="18" charset="0"/>
                <a:cs typeface="Times New Roman" panose="02020603050405020304" pitchFamily="18" charset="0"/>
              </a:rPr>
              <a:t> </a:t>
            </a:r>
          </a:p>
          <a:p>
            <a:r>
              <a:rPr lang="en-IN" sz="1800" b="1" i="0" u="none" strike="noStrike" dirty="0">
                <a:solidFill>
                  <a:srgbClr val="000000"/>
                </a:solidFill>
                <a:effectLst/>
                <a:latin typeface="Times New Roman" panose="02020603050405020304" pitchFamily="18" charset="0"/>
                <a:cs typeface="Times New Roman" panose="02020603050405020304" pitchFamily="18" charset="0"/>
              </a:rPr>
              <a:t>		</a:t>
            </a:r>
            <a:endParaRPr lang="en-US" sz="2000" b="1" dirty="0">
              <a:latin typeface="Times New Roman" panose="02020603050405020304" pitchFamily="18" charset="0"/>
              <a:cs typeface="Times New Roman" pitchFamily="18" charset="0"/>
            </a:endParaRPr>
          </a:p>
        </p:txBody>
      </p:sp>
      <p:sp>
        <p:nvSpPr>
          <p:cNvPr id="11" name="Rectangle 2">
            <a:extLst>
              <a:ext uri="{FF2B5EF4-FFF2-40B4-BE49-F238E27FC236}">
                <a16:creationId xmlns:a16="http://schemas.microsoft.com/office/drawing/2014/main" id="{F41C888E-0CC2-4B92-8AF9-F5030E530387}"/>
              </a:ext>
            </a:extLst>
          </p:cNvPr>
          <p:cNvSpPr txBox="1">
            <a:spLocks noChangeArrowheads="1"/>
          </p:cNvSpPr>
          <p:nvPr/>
        </p:nvSpPr>
        <p:spPr>
          <a:xfrm>
            <a:off x="2072803" y="1304606"/>
            <a:ext cx="7869539" cy="1621474"/>
          </a:xfrm>
          <a:prstGeom prst="rect">
            <a:avLst/>
          </a:prstGeom>
        </p:spPr>
        <p:txBody>
          <a:bodyPr spcFirstLastPara="1" vert="horz" wrap="square" lIns="91425" tIns="91425" rIns="91425" bIns="91425" rtlCol="0" anchor="t" anchorCtr="0">
            <a:normAutofit fontScale="25000" lnSpcReduction="20000"/>
          </a:bodyPr>
          <a:lstStyle>
            <a:lvl1pPr lvl="0" algn="ctr" defTabSz="914400" rtl="0" eaLnBrk="1" latinLnBrk="0" hangingPunct="1">
              <a:spcBef>
                <a:spcPts val="0"/>
              </a:spcBef>
              <a:spcAft>
                <a:spcPts val="0"/>
              </a:spcAft>
              <a:buSzPts val="2400"/>
              <a:buNone/>
              <a:defRPr sz="3200" kern="1200">
                <a:solidFill>
                  <a:schemeClr val="tx1"/>
                </a:solidFill>
                <a:latin typeface="+mj-lt"/>
                <a:ea typeface="+mj-ea"/>
                <a:cs typeface="+mj-cs"/>
              </a:defRPr>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r>
              <a:rPr lang="en-US" altLang="ja-JP" sz="11200" b="1" dirty="0">
                <a:solidFill>
                  <a:srgbClr val="002060"/>
                </a:solidFill>
                <a:latin typeface="Times New Roman" pitchFamily="18" charset="0"/>
                <a:ea typeface="MS PGothic" pitchFamily="34" charset="-128"/>
              </a:rPr>
              <a:t>Online Summer Internships 2026</a:t>
            </a:r>
          </a:p>
          <a:p>
            <a:r>
              <a:rPr lang="en-US" altLang="ja-JP" sz="6700" b="1" dirty="0">
                <a:solidFill>
                  <a:srgbClr val="002060"/>
                </a:solidFill>
                <a:latin typeface="Times New Roman" pitchFamily="18" charset="0"/>
                <a:ea typeface="MS PGothic" pitchFamily="34" charset="-128"/>
              </a:rPr>
              <a:t> </a:t>
            </a:r>
          </a:p>
          <a:p>
            <a:endParaRPr lang="en-US" altLang="ja-JP" sz="2700" b="1" dirty="0">
              <a:solidFill>
                <a:srgbClr val="CC66FF"/>
              </a:solidFill>
              <a:latin typeface="Times New Roman" pitchFamily="18" charset="0"/>
              <a:ea typeface="MS PGothic" pitchFamily="34" charset="-128"/>
            </a:endParaRPr>
          </a:p>
          <a:p>
            <a:endParaRPr lang="en-US" altLang="ja-JP" sz="2700" b="1" dirty="0">
              <a:solidFill>
                <a:srgbClr val="CC66FF"/>
              </a:solidFill>
              <a:latin typeface="Times New Roman" pitchFamily="18" charset="0"/>
              <a:ea typeface="MS PGothic" pitchFamily="34" charset="-128"/>
            </a:endParaRPr>
          </a:p>
          <a:p>
            <a:endParaRPr lang="en-US" altLang="ja-JP" sz="2700" b="1" dirty="0">
              <a:solidFill>
                <a:srgbClr val="CC66FF"/>
              </a:solidFill>
              <a:latin typeface="Times New Roman" pitchFamily="18" charset="0"/>
              <a:ea typeface="MS PGothic" pitchFamily="34" charset="-128"/>
            </a:endParaRPr>
          </a:p>
          <a:p>
            <a:endParaRPr lang="en-US" altLang="ja-JP" sz="2700" b="1" dirty="0">
              <a:solidFill>
                <a:srgbClr val="CC66FF"/>
              </a:solidFill>
              <a:latin typeface="Times New Roman" pitchFamily="18" charset="0"/>
              <a:ea typeface="MS PGothic" pitchFamily="34" charset="-128"/>
            </a:endParaRPr>
          </a:p>
          <a:p>
            <a:endParaRPr lang="en-US" altLang="ja-JP" sz="2700" b="1" dirty="0">
              <a:solidFill>
                <a:srgbClr val="CC66FF"/>
              </a:solidFill>
              <a:latin typeface="Times New Roman" pitchFamily="18" charset="0"/>
              <a:ea typeface="MS PGothic" pitchFamily="34" charset="-128"/>
            </a:endParaRPr>
          </a:p>
          <a:p>
            <a:br>
              <a:rPr lang="en-US" altLang="ja-JP" sz="4400" b="1">
                <a:solidFill>
                  <a:srgbClr val="CC66FF"/>
                </a:solidFill>
                <a:latin typeface="Times New Roman" pitchFamily="18" charset="0"/>
                <a:ea typeface="MS PGothic" pitchFamily="34" charset="-128"/>
              </a:rPr>
            </a:br>
            <a:r>
              <a:rPr lang="en-US" altLang="ja-JP" sz="9600" b="1">
                <a:solidFill>
                  <a:srgbClr val="C00000"/>
                </a:solidFill>
                <a:latin typeface="Times New Roman" panose="02020603050405020304" pitchFamily="18" charset="0"/>
                <a:ea typeface="MS PGothic" pitchFamily="34" charset="-128"/>
                <a:cs typeface="Times New Roman" panose="02020603050405020304" pitchFamily="18" charset="0"/>
              </a:rPr>
              <a:t>AI EMAIL WRITER</a:t>
            </a:r>
            <a:endParaRPr lang="en-US" altLang="ja-JP" sz="9600" b="1" dirty="0">
              <a:solidFill>
                <a:srgbClr val="C00000"/>
              </a:solidFill>
              <a:latin typeface="Times New Roman" panose="02020603050405020304" pitchFamily="18" charset="0"/>
              <a:ea typeface="MS PGothic" pitchFamily="34" charset="-128"/>
              <a:cs typeface="Times New Roman" panose="02020603050405020304" pitchFamily="18" charset="0"/>
            </a:endParaRPr>
          </a:p>
          <a:p>
            <a:endParaRPr lang="en-US" altLang="ja-JP" sz="4000" b="1" dirty="0">
              <a:solidFill>
                <a:srgbClr val="C00000"/>
              </a:solidFill>
              <a:latin typeface="Times New Roman" panose="02020603050405020304" pitchFamily="18" charset="0"/>
              <a:ea typeface="MS PGothic" pitchFamily="34" charset="-128"/>
              <a:cs typeface="Times New Roman" panose="02020603050405020304" pitchFamily="18" charset="0"/>
            </a:endParaRPr>
          </a:p>
          <a:p>
            <a:endParaRPr lang="en-US" sz="4000" b="1" dirty="0">
              <a:solidFill>
                <a:schemeClr val="tx1">
                  <a:lumMod val="85000"/>
                  <a:lumOff val="15000"/>
                </a:schemeClr>
              </a:solidFill>
              <a:latin typeface="Times New Roman" pitchFamily="18" charset="0"/>
              <a:ea typeface="MS PGothic" pitchFamily="34" charset="-128"/>
            </a:endParaRPr>
          </a:p>
        </p:txBody>
      </p:sp>
      <p:sp>
        <p:nvSpPr>
          <p:cNvPr id="24578" name="AutoShape 2" descr="Best MCA College in Mumbai | TIMSCDR Mumbai"/>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GB"/>
          </a:p>
        </p:txBody>
      </p:sp>
      <p:pic>
        <p:nvPicPr>
          <p:cNvPr id="24580" name="Picture 4" descr="E:\CSI\Internships\Projects\CSI Logo.png"/>
          <p:cNvPicPr>
            <a:picLocks noChangeAspect="1" noChangeArrowheads="1"/>
          </p:cNvPicPr>
          <p:nvPr/>
        </p:nvPicPr>
        <p:blipFill>
          <a:blip r:embed="rId2" cstate="print"/>
          <a:srcRect/>
          <a:stretch>
            <a:fillRect/>
          </a:stretch>
        </p:blipFill>
        <p:spPr bwMode="auto">
          <a:xfrm>
            <a:off x="831596" y="220091"/>
            <a:ext cx="1714500" cy="1714500"/>
          </a:xfrm>
          <a:prstGeom prst="rect">
            <a:avLst/>
          </a:prstGeom>
          <a:noFill/>
        </p:spPr>
      </p:pic>
      <p:sp>
        <p:nvSpPr>
          <p:cNvPr id="12" name="TextBox 11"/>
          <p:cNvSpPr txBox="1"/>
          <p:nvPr/>
        </p:nvSpPr>
        <p:spPr>
          <a:xfrm>
            <a:off x="1304715" y="5928852"/>
            <a:ext cx="8950330" cy="523220"/>
          </a:xfrm>
          <a:prstGeom prst="rect">
            <a:avLst/>
          </a:prstGeom>
          <a:noFill/>
        </p:spPr>
        <p:txBody>
          <a:bodyPr wrap="square" rtlCol="0">
            <a:spAutoFit/>
          </a:bodyPr>
          <a:lstStyle/>
          <a:p>
            <a:pPr algn="ctr"/>
            <a:r>
              <a:rPr lang="en-GB" sz="2800" b="1" dirty="0">
                <a:solidFill>
                  <a:srgbClr val="002060"/>
                </a:solidFill>
                <a:latin typeface="Times New Roman" pitchFamily="18" charset="0"/>
                <a:cs typeface="Times New Roman" pitchFamily="18" charset="0"/>
              </a:rPr>
              <a:t>Vignan Institute of Technology and Science</a:t>
            </a:r>
          </a:p>
        </p:txBody>
      </p:sp>
    </p:spTree>
    <p:extLst>
      <p:ext uri="{BB962C8B-B14F-4D97-AF65-F5344CB8AC3E}">
        <p14:creationId xmlns:p14="http://schemas.microsoft.com/office/powerpoint/2010/main" val="35515233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F12C3-251D-4C87-84AC-A7E0633777C3}"/>
              </a:ext>
            </a:extLst>
          </p:cNvPr>
          <p:cNvSpPr>
            <a:spLocks noGrp="1"/>
          </p:cNvSpPr>
          <p:nvPr>
            <p:ph type="title"/>
          </p:nvPr>
        </p:nvSpPr>
        <p:spPr>
          <a:xfrm>
            <a:off x="838200" y="262489"/>
            <a:ext cx="10515600" cy="810531"/>
          </a:xfrm>
        </p:spPr>
        <p:txBody>
          <a:bodyPr/>
          <a:lstStyle/>
          <a:p>
            <a:pPr algn="ctr"/>
            <a:r>
              <a:rPr lang="en-IN" b="1" dirty="0">
                <a:latin typeface="Times New Roman" panose="02020603050405020304" pitchFamily="18" charset="0"/>
                <a:cs typeface="Times New Roman" panose="02020603050405020304" pitchFamily="18" charset="0"/>
              </a:rPr>
              <a:t>Overview</a:t>
            </a:r>
          </a:p>
        </p:txBody>
      </p:sp>
      <p:sp>
        <p:nvSpPr>
          <p:cNvPr id="3" name="Content Placeholder 2">
            <a:extLst>
              <a:ext uri="{FF2B5EF4-FFF2-40B4-BE49-F238E27FC236}">
                <a16:creationId xmlns:a16="http://schemas.microsoft.com/office/drawing/2014/main" id="{4B50C4F6-5EAA-4F67-BDCD-CF1C1C02AE34}"/>
              </a:ext>
            </a:extLst>
          </p:cNvPr>
          <p:cNvSpPr>
            <a:spLocks noGrp="1"/>
          </p:cNvSpPr>
          <p:nvPr>
            <p:ph idx="1"/>
          </p:nvPr>
        </p:nvSpPr>
        <p:spPr>
          <a:xfrm>
            <a:off x="950167" y="1289473"/>
            <a:ext cx="10515600" cy="4906054"/>
          </a:xfrm>
        </p:spPr>
        <p:txBody>
          <a:bodyPr>
            <a:noAutofit/>
          </a:bodyPr>
          <a:lstStyle/>
          <a:p>
            <a:r>
              <a:rPr lang="en-IN" sz="2400" dirty="0">
                <a:latin typeface="Times New Roman" panose="02020603050405020304" pitchFamily="18" charset="0"/>
                <a:cs typeface="Times New Roman" panose="02020603050405020304" pitchFamily="18" charset="0"/>
              </a:rPr>
              <a:t>Abstract</a:t>
            </a:r>
          </a:p>
          <a:p>
            <a:r>
              <a:rPr lang="en-IN" sz="2400" dirty="0">
                <a:latin typeface="Times New Roman" panose="02020603050405020304" pitchFamily="18" charset="0"/>
                <a:cs typeface="Times New Roman" panose="02020603050405020304" pitchFamily="18" charset="0"/>
              </a:rPr>
              <a:t>Introduction</a:t>
            </a:r>
          </a:p>
          <a:p>
            <a:r>
              <a:rPr lang="en-IN" sz="2400" dirty="0">
                <a:latin typeface="Times New Roman" panose="02020603050405020304" pitchFamily="18" charset="0"/>
                <a:cs typeface="Times New Roman" panose="02020603050405020304" pitchFamily="18" charset="0"/>
              </a:rPr>
              <a:t>Literature survey</a:t>
            </a:r>
          </a:p>
          <a:p>
            <a:r>
              <a:rPr lang="en-IN" sz="2400" dirty="0">
                <a:latin typeface="Times New Roman" panose="02020603050405020304" pitchFamily="18" charset="0"/>
                <a:cs typeface="Times New Roman" panose="02020603050405020304" pitchFamily="18" charset="0"/>
              </a:rPr>
              <a:t>Scope &amp; Objective of  Project</a:t>
            </a:r>
          </a:p>
          <a:p>
            <a:r>
              <a:rPr lang="en-IN" sz="2400" dirty="0">
                <a:latin typeface="Times New Roman" panose="02020603050405020304" pitchFamily="18" charset="0"/>
                <a:cs typeface="Times New Roman" panose="02020603050405020304" pitchFamily="18" charset="0"/>
              </a:rPr>
              <a:t>Hardware &amp; Software requirements</a:t>
            </a:r>
          </a:p>
          <a:p>
            <a:r>
              <a:rPr lang="en-IN" sz="2400" dirty="0">
                <a:latin typeface="Times New Roman" panose="02020603050405020304" pitchFamily="18" charset="0"/>
                <a:cs typeface="Times New Roman" panose="02020603050405020304" pitchFamily="18" charset="0"/>
              </a:rPr>
              <a:t>System Architecture</a:t>
            </a:r>
          </a:p>
          <a:p>
            <a:r>
              <a:rPr lang="en-IN" sz="2400" dirty="0">
                <a:latin typeface="Times New Roman" panose="02020603050405020304" pitchFamily="18" charset="0"/>
                <a:cs typeface="Times New Roman" panose="02020603050405020304" pitchFamily="18" charset="0"/>
              </a:rPr>
              <a:t>Modules</a:t>
            </a:r>
          </a:p>
          <a:p>
            <a:r>
              <a:rPr lang="en-IN" sz="2400" dirty="0">
                <a:latin typeface="Times New Roman" panose="02020603050405020304" pitchFamily="18" charset="0"/>
                <a:cs typeface="Times New Roman" panose="02020603050405020304" pitchFamily="18" charset="0"/>
              </a:rPr>
              <a:t>Code</a:t>
            </a:r>
          </a:p>
          <a:p>
            <a:r>
              <a:rPr lang="en-IN" sz="2400" dirty="0">
                <a:latin typeface="Times New Roman" panose="02020603050405020304" pitchFamily="18" charset="0"/>
                <a:cs typeface="Times New Roman" panose="02020603050405020304" pitchFamily="18" charset="0"/>
              </a:rPr>
              <a:t>Snapshots</a:t>
            </a:r>
          </a:p>
          <a:p>
            <a:r>
              <a:rPr lang="en-IN" sz="2400" dirty="0">
                <a:latin typeface="Times New Roman" panose="02020603050405020304" pitchFamily="18" charset="0"/>
                <a:cs typeface="Times New Roman" panose="02020603050405020304" pitchFamily="18" charset="0"/>
              </a:rPr>
              <a:t>Conclusion</a:t>
            </a:r>
          </a:p>
          <a:p>
            <a:r>
              <a:rPr lang="en-IN" sz="2400" dirty="0">
                <a:latin typeface="Times New Roman" panose="02020603050405020304" pitchFamily="18" charset="0"/>
                <a:cs typeface="Times New Roman" panose="02020603050405020304" pitchFamily="18" charset="0"/>
              </a:rPr>
              <a:t>References</a:t>
            </a:r>
          </a:p>
          <a:p>
            <a:pPr marL="0" indent="0">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65974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2932E-C105-4CC2-8A3E-4587B4304445}"/>
              </a:ext>
            </a:extLst>
          </p:cNvPr>
          <p:cNvSpPr>
            <a:spLocks noGrp="1"/>
          </p:cNvSpPr>
          <p:nvPr>
            <p:ph type="title"/>
          </p:nvPr>
        </p:nvSpPr>
        <p:spPr>
          <a:xfrm>
            <a:off x="838199" y="365125"/>
            <a:ext cx="10670931" cy="1495670"/>
          </a:xfrm>
        </p:spPr>
        <p:txBody>
          <a:bodyPr>
            <a:normAutofit/>
          </a:bodyPr>
          <a:lstStyle/>
          <a:p>
            <a:pPr algn="ctr"/>
            <a:r>
              <a:rPr lang="en-IN" sz="2800" b="1" dirty="0">
                <a:latin typeface="Times New Roman" panose="02020603050405020304" pitchFamily="18" charset="0"/>
                <a:cs typeface="Times New Roman" panose="02020603050405020304" pitchFamily="18" charset="0"/>
              </a:rPr>
              <a:t>ABSTRACT</a:t>
            </a:r>
            <a:endParaRPr lang="en-IN" sz="2800" dirty="0"/>
          </a:p>
        </p:txBody>
      </p:sp>
      <p:sp>
        <p:nvSpPr>
          <p:cNvPr id="7" name="Content Placeholder 6">
            <a:extLst>
              <a:ext uri="{FF2B5EF4-FFF2-40B4-BE49-F238E27FC236}">
                <a16:creationId xmlns:a16="http://schemas.microsoft.com/office/drawing/2014/main" id="{60113CD6-9A7B-43E3-990B-A55CEDB6DFD3}"/>
              </a:ext>
            </a:extLst>
          </p:cNvPr>
          <p:cNvSpPr>
            <a:spLocks noGrp="1"/>
          </p:cNvSpPr>
          <p:nvPr>
            <p:ph idx="1"/>
          </p:nvPr>
        </p:nvSpPr>
        <p:spPr/>
        <p:txBody>
          <a:bodyPr>
            <a:normAutofit/>
          </a:bodyPr>
          <a:lstStyle/>
          <a:p>
            <a:r>
              <a:rPr lang="en-IN" sz="2000" dirty="0"/>
              <a:t>In today's digital world, email communication plays an important role in education, business, and professional environments. Writing effective emails requires proper formatting, tone, and clarity, which can be challenging for many users.</a:t>
            </a:r>
          </a:p>
          <a:p>
            <a:r>
              <a:rPr lang="en-IN" sz="2000" dirty="0"/>
              <a:t>The proposed </a:t>
            </a:r>
            <a:r>
              <a:rPr lang="en-IN" sz="2000" b="1" dirty="0"/>
              <a:t>AI Email Writer</a:t>
            </a:r>
            <a:r>
              <a:rPr lang="en-IN" sz="2000" dirty="0"/>
              <a:t> is a Flask-based web application that automatically generates professional emails based on user input. It provides features such as smart subject generation, multiple email templates, tone selection, multilingual support (English, Hindi, Telugu), voice input, email history, copy functionality, and PDF/TXT download options.</a:t>
            </a:r>
          </a:p>
          <a:p>
            <a:r>
              <a:rPr lang="en-IN" sz="2000" dirty="0"/>
              <a:t>The system provides a simple and user-friendly interface that helps users generate high-quality emails quickly and efficiently.</a:t>
            </a:r>
          </a:p>
        </p:txBody>
      </p:sp>
    </p:spTree>
    <p:extLst>
      <p:ext uri="{BB962C8B-B14F-4D97-AF65-F5344CB8AC3E}">
        <p14:creationId xmlns:p14="http://schemas.microsoft.com/office/powerpoint/2010/main" val="14175471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FB9F7-5469-48D5-ACFE-9857E0773CF3}"/>
              </a:ext>
            </a:extLst>
          </p:cNvPr>
          <p:cNvSpPr>
            <a:spLocks noGrp="1"/>
          </p:cNvSpPr>
          <p:nvPr>
            <p:ph type="title"/>
          </p:nvPr>
        </p:nvSpPr>
        <p:spPr>
          <a:xfrm>
            <a:off x="916021" y="0"/>
            <a:ext cx="10515600" cy="1325563"/>
          </a:xfrm>
        </p:spPr>
        <p:txBody>
          <a:bodyPr>
            <a:normAutofit/>
          </a:bodyPr>
          <a:lstStyle/>
          <a:p>
            <a:pPr algn="ctr"/>
            <a:r>
              <a:rPr lang="en-US" sz="2800" b="1" dirty="0">
                <a:latin typeface="Times New Roman" panose="02020603050405020304" pitchFamily="18" charset="0"/>
                <a:cs typeface="Times New Roman" panose="02020603050405020304" pitchFamily="18" charset="0"/>
              </a:rPr>
              <a:t>EXISTING SYSTEM</a:t>
            </a:r>
            <a:endParaRPr lang="en-IN" sz="2800" b="1"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D6A40E7D-E64A-49A1-9116-A74A125DDBF2}"/>
              </a:ext>
            </a:extLst>
          </p:cNvPr>
          <p:cNvSpPr>
            <a:spLocks noGrp="1"/>
          </p:cNvSpPr>
          <p:nvPr>
            <p:ph idx="1"/>
          </p:nvPr>
        </p:nvSpPr>
        <p:spPr>
          <a:xfrm>
            <a:off x="888982" y="1825625"/>
            <a:ext cx="10515600" cy="4351338"/>
          </a:xfrm>
        </p:spPr>
        <p:txBody>
          <a:bodyPr>
            <a:normAutofit fontScale="92500" lnSpcReduction="20000"/>
          </a:bodyPr>
          <a:lstStyle/>
          <a:p>
            <a:pPr marL="0" indent="0">
              <a:buNone/>
            </a:pPr>
            <a:r>
              <a:rPr lang="en-IN" sz="2000" dirty="0"/>
              <a:t>In the existing system, users manually write emails using traditional email platforms.</a:t>
            </a:r>
          </a:p>
          <a:p>
            <a:pPr marL="0" indent="0">
              <a:buNone/>
            </a:pPr>
            <a:r>
              <a:rPr lang="en-IN" sz="2000" b="1" dirty="0"/>
              <a:t>Limitations:</a:t>
            </a:r>
          </a:p>
          <a:p>
            <a:r>
              <a:rPr lang="en-IN" sz="2000" dirty="0"/>
              <a:t>Users need to create email content from scratch. </a:t>
            </a:r>
          </a:p>
          <a:p>
            <a:r>
              <a:rPr lang="en-IN" sz="2000" dirty="0"/>
              <a:t>Time-consuming for professional emails. </a:t>
            </a:r>
          </a:p>
          <a:p>
            <a:r>
              <a:rPr lang="en-IN" sz="2000" dirty="0"/>
              <a:t>Difficulty maintaining proper email format. </a:t>
            </a:r>
          </a:p>
          <a:p>
            <a:r>
              <a:rPr lang="en-IN" sz="2000" dirty="0"/>
              <a:t>Users may not know the correct professional tone. </a:t>
            </a:r>
          </a:p>
          <a:p>
            <a:r>
              <a:rPr lang="en-IN" sz="2000" dirty="0"/>
              <a:t>No automatic subject generation. </a:t>
            </a:r>
          </a:p>
          <a:p>
            <a:r>
              <a:rPr lang="en-IN" sz="2000" dirty="0"/>
              <a:t>Limited personalization. </a:t>
            </a:r>
          </a:p>
          <a:p>
            <a:pPr marL="0" indent="0">
              <a:buNone/>
            </a:pPr>
            <a:r>
              <a:rPr lang="en-IN" sz="2000" dirty="0"/>
              <a:t>Examples:</a:t>
            </a:r>
          </a:p>
          <a:p>
            <a:r>
              <a:rPr lang="en-IN" sz="2000" dirty="0"/>
              <a:t>Gmail </a:t>
            </a:r>
          </a:p>
          <a:p>
            <a:r>
              <a:rPr lang="en-IN" sz="2000" dirty="0"/>
              <a:t>Outlook </a:t>
            </a:r>
          </a:p>
          <a:p>
            <a:r>
              <a:rPr lang="en-IN" sz="2000" dirty="0"/>
              <a:t>Yahoo Mail </a:t>
            </a:r>
          </a:p>
          <a:p>
            <a:pPr marL="0" indent="0">
              <a:buNone/>
            </a:pPr>
            <a:r>
              <a:rPr lang="en-IN" sz="2000" dirty="0"/>
              <a:t>These platforms provide email sending features but do not help users generate complete email content.</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46346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0B8822A-48C2-4B60-B35C-4934E685C171}"/>
              </a:ext>
            </a:extLst>
          </p:cNvPr>
          <p:cNvSpPr txBox="1"/>
          <p:nvPr/>
        </p:nvSpPr>
        <p:spPr>
          <a:xfrm>
            <a:off x="137652" y="0"/>
            <a:ext cx="12192000" cy="7294305"/>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PROPOSED SYSTEM:</a:t>
            </a:r>
          </a:p>
          <a:p>
            <a:endParaRPr lang="en-IN" sz="2400" b="1" dirty="0">
              <a:latin typeface="Times New Roman" panose="02020603050405020304" pitchFamily="18" charset="0"/>
              <a:cs typeface="Times New Roman" panose="02020603050405020304" pitchFamily="18" charset="0"/>
            </a:endParaRPr>
          </a:p>
          <a:p>
            <a:r>
              <a:rPr lang="en-IN" dirty="0"/>
              <a:t>The proposed system is an </a:t>
            </a:r>
            <a:r>
              <a:rPr lang="en-IN" b="1" dirty="0"/>
              <a:t>AI-powered Email Writing Assistant</a:t>
            </a:r>
            <a:r>
              <a:rPr lang="en-IN" dirty="0"/>
              <a:t> that automatically generates emails based on user requirements.</a:t>
            </a:r>
          </a:p>
          <a:p>
            <a:r>
              <a:rPr lang="en-IN" b="1" dirty="0"/>
              <a:t>Features:</a:t>
            </a:r>
          </a:p>
          <a:p>
            <a:r>
              <a:rPr lang="en-IN" dirty="0"/>
              <a:t>User enters email purpose/topic. </a:t>
            </a:r>
          </a:p>
          <a:p>
            <a:r>
              <a:rPr lang="en-IN" dirty="0"/>
              <a:t>Selects email tone: </a:t>
            </a:r>
          </a:p>
          <a:p>
            <a:r>
              <a:rPr lang="en-IN" dirty="0"/>
              <a:t>        Formal </a:t>
            </a:r>
          </a:p>
          <a:p>
            <a:r>
              <a:rPr lang="en-IN" dirty="0"/>
              <a:t>        Casual                                                                            </a:t>
            </a:r>
          </a:p>
          <a:p>
            <a:pPr lvl="1"/>
            <a:r>
              <a:rPr lang="en-IN" dirty="0"/>
              <a:t>Polite </a:t>
            </a:r>
          </a:p>
          <a:p>
            <a:r>
              <a:rPr lang="en-IN" dirty="0"/>
              <a:t>Selects language: </a:t>
            </a:r>
          </a:p>
          <a:p>
            <a:pPr lvl="1"/>
            <a:r>
              <a:rPr lang="en-IN" dirty="0"/>
              <a:t>English </a:t>
            </a:r>
          </a:p>
          <a:p>
            <a:pPr lvl="1"/>
            <a:r>
              <a:rPr lang="en-IN" dirty="0"/>
              <a:t>Hindi </a:t>
            </a:r>
          </a:p>
          <a:p>
            <a:pPr lvl="1"/>
            <a:r>
              <a:rPr lang="en-IN" dirty="0"/>
              <a:t>Telugu </a:t>
            </a:r>
          </a:p>
          <a:p>
            <a:r>
              <a:rPr lang="en-IN" dirty="0"/>
              <a:t>Adds: </a:t>
            </a:r>
          </a:p>
          <a:p>
            <a:pPr lvl="1"/>
            <a:r>
              <a:rPr lang="en-IN" dirty="0"/>
              <a:t>Recipient Name </a:t>
            </a:r>
          </a:p>
          <a:p>
            <a:pPr lvl="1"/>
            <a:r>
              <a:rPr lang="en-IN" dirty="0"/>
              <a:t>Sender Name </a:t>
            </a:r>
          </a:p>
          <a:p>
            <a:r>
              <a:rPr lang="en-IN" dirty="0"/>
              <a:t>Generates: </a:t>
            </a:r>
          </a:p>
          <a:p>
            <a:pPr lvl="1"/>
            <a:r>
              <a:rPr lang="en-IN" dirty="0"/>
              <a:t>Email subject </a:t>
            </a:r>
          </a:p>
          <a:p>
            <a:pPr lvl="1"/>
            <a:r>
              <a:rPr lang="en-IN" dirty="0"/>
              <a:t>Complete email body   </a:t>
            </a:r>
          </a:p>
          <a:p>
            <a:r>
              <a:rPr lang="en-IN" b="1" dirty="0"/>
              <a:t>Additional Features:</a:t>
            </a:r>
          </a:p>
          <a:p>
            <a:r>
              <a:rPr lang="en-IN" dirty="0"/>
              <a:t>Smart subject generation </a:t>
            </a:r>
          </a:p>
          <a:p>
            <a:r>
              <a:rPr lang="en-IN" dirty="0"/>
              <a:t>Email templates </a:t>
            </a:r>
          </a:p>
          <a:p>
            <a:r>
              <a:rPr lang="en-IN" dirty="0"/>
              <a:t>Voice input </a:t>
            </a:r>
          </a:p>
          <a:p>
            <a:r>
              <a:rPr lang="en-IN" dirty="0"/>
              <a:t>Copy email</a:t>
            </a:r>
          </a:p>
          <a:p>
            <a:pPr lvl="1"/>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34358690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Slide Background">
            <a:extLst>
              <a:ext uri="{FF2B5EF4-FFF2-40B4-BE49-F238E27FC236}">
                <a16:creationId xmlns:a16="http://schemas.microsoft.com/office/drawing/2014/main" id="{FE1EC756-41E9-4FD6-AD48-EF46A28137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3" name="Rectangle 12">
            <a:extLst>
              <a:ext uri="{FF2B5EF4-FFF2-40B4-BE49-F238E27FC236}">
                <a16:creationId xmlns:a16="http://schemas.microsoft.com/office/drawing/2014/main" id="{E66F6371-9EA5-9354-29DC-1D07B921F7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4290"/>
            <a:ext cx="12192000" cy="1733407"/>
          </a:xfrm>
          <a:prstGeom prst="rect">
            <a:avLst/>
          </a:prstGeom>
          <a:ln>
            <a:noFill/>
          </a:ln>
          <a:effectLst>
            <a:outerShdw blurRad="254000" dist="38100" dir="5460000" sx="94000" sy="94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D6FFDA64-9687-4738-8E2B-AF889C9F2ED4}"/>
              </a:ext>
            </a:extLst>
          </p:cNvPr>
          <p:cNvSpPr>
            <a:spLocks noGrp="1"/>
          </p:cNvSpPr>
          <p:nvPr>
            <p:ph type="title"/>
          </p:nvPr>
        </p:nvSpPr>
        <p:spPr>
          <a:xfrm>
            <a:off x="761995" y="307447"/>
            <a:ext cx="10693884" cy="1109932"/>
          </a:xfrm>
        </p:spPr>
        <p:txBody>
          <a:bodyPr>
            <a:normAutofit/>
          </a:bodyPr>
          <a:lstStyle/>
          <a:p>
            <a:r>
              <a:rPr lang="en-IN" sz="4000" b="1">
                <a:latin typeface="Times New Roman" panose="02020603050405020304" pitchFamily="18" charset="0"/>
                <a:cs typeface="Times New Roman" panose="02020603050405020304" pitchFamily="18" charset="0"/>
              </a:rPr>
              <a:t>LITERATURE SURVEY</a:t>
            </a:r>
            <a:endParaRPr lang="en-IN" sz="4000"/>
          </a:p>
        </p:txBody>
      </p:sp>
      <p:sp>
        <p:nvSpPr>
          <p:cNvPr id="3" name="Content Placeholder 2">
            <a:extLst>
              <a:ext uri="{FF2B5EF4-FFF2-40B4-BE49-F238E27FC236}">
                <a16:creationId xmlns:a16="http://schemas.microsoft.com/office/drawing/2014/main" id="{9089495E-C009-4E89-BB1E-65807BE6D98D}"/>
              </a:ext>
            </a:extLst>
          </p:cNvPr>
          <p:cNvSpPr>
            <a:spLocks noGrp="1"/>
          </p:cNvSpPr>
          <p:nvPr>
            <p:ph idx="1"/>
          </p:nvPr>
        </p:nvSpPr>
        <p:spPr>
          <a:xfrm>
            <a:off x="7190509" y="2357888"/>
            <a:ext cx="4265370" cy="3902635"/>
          </a:xfrm>
        </p:spPr>
        <p:txBody>
          <a:bodyPr anchor="ctr">
            <a:normAutofit/>
          </a:bodyPr>
          <a:lstStyle/>
          <a:p>
            <a:r>
              <a:rPr lang="en-IN" sz="1400" dirty="0"/>
              <a:t>Previous systems focused mainly on email management, but AI-based generation improves content creation and personalization.</a:t>
            </a:r>
            <a:endParaRPr lang="en-IN" sz="1400" dirty="0">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43CF4CB7-36D1-4AB6-8A36-CEA8A1501E88}"/>
              </a:ext>
            </a:extLst>
          </p:cNvPr>
          <p:cNvGraphicFramePr>
            <a:graphicFrameLocks noGrp="1"/>
          </p:cNvGraphicFramePr>
          <p:nvPr>
            <p:extLst>
              <p:ext uri="{D42A27DB-BD31-4B8C-83A1-F6EECF244321}">
                <p14:modId xmlns:p14="http://schemas.microsoft.com/office/powerpoint/2010/main" val="2854678627"/>
              </p:ext>
            </p:extLst>
          </p:nvPr>
        </p:nvGraphicFramePr>
        <p:xfrm>
          <a:off x="736122" y="2538748"/>
          <a:ext cx="5804956" cy="3413777"/>
        </p:xfrm>
        <a:graphic>
          <a:graphicData uri="http://schemas.openxmlformats.org/drawingml/2006/table">
            <a:tbl>
              <a:tblPr>
                <a:tableStyleId>{8799B23B-EC83-4686-B30A-512413B5E67A}</a:tableStyleId>
              </a:tblPr>
              <a:tblGrid>
                <a:gridCol w="2795691">
                  <a:extLst>
                    <a:ext uri="{9D8B030D-6E8A-4147-A177-3AD203B41FA5}">
                      <a16:colId xmlns:a16="http://schemas.microsoft.com/office/drawing/2014/main" val="3262722806"/>
                    </a:ext>
                  </a:extLst>
                </a:gridCol>
                <a:gridCol w="3009265">
                  <a:extLst>
                    <a:ext uri="{9D8B030D-6E8A-4147-A177-3AD203B41FA5}">
                      <a16:colId xmlns:a16="http://schemas.microsoft.com/office/drawing/2014/main" val="2930714647"/>
                    </a:ext>
                  </a:extLst>
                </a:gridCol>
              </a:tblGrid>
              <a:tr h="338302">
                <a:tc>
                  <a:txBody>
                    <a:bodyPr/>
                    <a:lstStyle/>
                    <a:p>
                      <a:pPr>
                        <a:buNone/>
                      </a:pPr>
                      <a:r>
                        <a:rPr lang="en-IN" sz="1500"/>
                        <a:t>Research/Technology</a:t>
                      </a:r>
                    </a:p>
                  </a:txBody>
                  <a:tcPr marL="76887" marR="76887" marT="38443" marB="38443" anchor="ctr"/>
                </a:tc>
                <a:tc>
                  <a:txBody>
                    <a:bodyPr/>
                    <a:lstStyle/>
                    <a:p>
                      <a:pPr>
                        <a:buNone/>
                      </a:pPr>
                      <a:r>
                        <a:rPr lang="en-IN" sz="1500"/>
                        <a:t>Description</a:t>
                      </a:r>
                    </a:p>
                  </a:txBody>
                  <a:tcPr marL="76887" marR="76887" marT="38443" marB="38443" anchor="ctr"/>
                </a:tc>
                <a:extLst>
                  <a:ext uri="{0D108BD9-81ED-4DB2-BD59-A6C34878D82A}">
                    <a16:rowId xmlns:a16="http://schemas.microsoft.com/office/drawing/2014/main" val="1807269045"/>
                  </a:ext>
                </a:extLst>
              </a:tr>
              <a:tr h="799623">
                <a:tc>
                  <a:txBody>
                    <a:bodyPr/>
                    <a:lstStyle/>
                    <a:p>
                      <a:pPr>
                        <a:buNone/>
                      </a:pPr>
                      <a:r>
                        <a:rPr lang="en-IN" sz="1500"/>
                        <a:t>Natural Language Processing (NLP)</a:t>
                      </a:r>
                    </a:p>
                  </a:txBody>
                  <a:tcPr marL="76887" marR="76887" marT="38443" marB="38443" anchor="ctr"/>
                </a:tc>
                <a:tc>
                  <a:txBody>
                    <a:bodyPr/>
                    <a:lstStyle/>
                    <a:p>
                      <a:pPr>
                        <a:buNone/>
                      </a:pPr>
                      <a:r>
                        <a:rPr lang="en-IN" sz="1500"/>
                        <a:t>Used for understanding user input and generating human-like text</a:t>
                      </a:r>
                    </a:p>
                  </a:txBody>
                  <a:tcPr marL="76887" marR="76887" marT="38443" marB="38443" anchor="ctr"/>
                </a:tc>
                <a:extLst>
                  <a:ext uri="{0D108BD9-81ED-4DB2-BD59-A6C34878D82A}">
                    <a16:rowId xmlns:a16="http://schemas.microsoft.com/office/drawing/2014/main" val="2372100836"/>
                  </a:ext>
                </a:extLst>
              </a:tr>
              <a:tr h="568963">
                <a:tc>
                  <a:txBody>
                    <a:bodyPr/>
                    <a:lstStyle/>
                    <a:p>
                      <a:pPr>
                        <a:buNone/>
                      </a:pPr>
                      <a:r>
                        <a:rPr lang="en-IN" sz="1500"/>
                        <a:t>Generative AI Models</a:t>
                      </a:r>
                    </a:p>
                  </a:txBody>
                  <a:tcPr marL="76887" marR="76887" marT="38443" marB="38443" anchor="ctr"/>
                </a:tc>
                <a:tc>
                  <a:txBody>
                    <a:bodyPr/>
                    <a:lstStyle/>
                    <a:p>
                      <a:pPr>
                        <a:buNone/>
                      </a:pPr>
                      <a:r>
                        <a:rPr lang="en-IN" sz="1500" dirty="0"/>
                        <a:t>Used for automated text creation and language generation</a:t>
                      </a:r>
                    </a:p>
                  </a:txBody>
                  <a:tcPr marL="76887" marR="76887" marT="38443" marB="38443" anchor="ctr"/>
                </a:tc>
                <a:extLst>
                  <a:ext uri="{0D108BD9-81ED-4DB2-BD59-A6C34878D82A}">
                    <a16:rowId xmlns:a16="http://schemas.microsoft.com/office/drawing/2014/main" val="3232313989"/>
                  </a:ext>
                </a:extLst>
              </a:tr>
              <a:tr h="568963">
                <a:tc>
                  <a:txBody>
                    <a:bodyPr/>
                    <a:lstStyle/>
                    <a:p>
                      <a:pPr>
                        <a:buNone/>
                      </a:pPr>
                      <a:r>
                        <a:rPr lang="en-IN" sz="1500" dirty="0"/>
                        <a:t>Email Automation Systems</a:t>
                      </a:r>
                    </a:p>
                  </a:txBody>
                  <a:tcPr marL="76887" marR="76887" marT="38443" marB="38443" anchor="ctr"/>
                </a:tc>
                <a:tc>
                  <a:txBody>
                    <a:bodyPr/>
                    <a:lstStyle/>
                    <a:p>
                      <a:pPr>
                        <a:buNone/>
                      </a:pPr>
                      <a:r>
                        <a:rPr lang="en-IN" sz="1500"/>
                        <a:t>Help reduce manual effort in communication</a:t>
                      </a:r>
                    </a:p>
                  </a:txBody>
                  <a:tcPr marL="76887" marR="76887" marT="38443" marB="38443" anchor="ctr"/>
                </a:tc>
                <a:extLst>
                  <a:ext uri="{0D108BD9-81ED-4DB2-BD59-A6C34878D82A}">
                    <a16:rowId xmlns:a16="http://schemas.microsoft.com/office/drawing/2014/main" val="246996961"/>
                  </a:ext>
                </a:extLst>
              </a:tr>
              <a:tr h="568963">
                <a:tc>
                  <a:txBody>
                    <a:bodyPr/>
                    <a:lstStyle/>
                    <a:p>
                      <a:pPr>
                        <a:buNone/>
                      </a:pPr>
                      <a:r>
                        <a:rPr lang="en-IN" sz="1500"/>
                        <a:t>Speech Recognition Technology</a:t>
                      </a:r>
                    </a:p>
                  </a:txBody>
                  <a:tcPr marL="76887" marR="76887" marT="38443" marB="38443" anchor="ctr"/>
                </a:tc>
                <a:tc>
                  <a:txBody>
                    <a:bodyPr/>
                    <a:lstStyle/>
                    <a:p>
                      <a:pPr>
                        <a:buNone/>
                      </a:pPr>
                      <a:r>
                        <a:rPr lang="en-IN" sz="1500"/>
                        <a:t>Converts voice input into text</a:t>
                      </a:r>
                    </a:p>
                  </a:txBody>
                  <a:tcPr marL="76887" marR="76887" marT="38443" marB="38443" anchor="ctr"/>
                </a:tc>
                <a:extLst>
                  <a:ext uri="{0D108BD9-81ED-4DB2-BD59-A6C34878D82A}">
                    <a16:rowId xmlns:a16="http://schemas.microsoft.com/office/drawing/2014/main" val="4163920620"/>
                  </a:ext>
                </a:extLst>
              </a:tr>
              <a:tr h="568963">
                <a:tc>
                  <a:txBody>
                    <a:bodyPr/>
                    <a:lstStyle/>
                    <a:p>
                      <a:pPr>
                        <a:buNone/>
                      </a:pPr>
                      <a:r>
                        <a:rPr lang="en-IN" sz="1500"/>
                        <a:t>Web Applications</a:t>
                      </a:r>
                    </a:p>
                  </a:txBody>
                  <a:tcPr marL="76887" marR="76887" marT="38443" marB="38443" anchor="ctr"/>
                </a:tc>
                <a:tc>
                  <a:txBody>
                    <a:bodyPr/>
                    <a:lstStyle/>
                    <a:p>
                      <a:pPr>
                        <a:buNone/>
                      </a:pPr>
                      <a:r>
                        <a:rPr lang="en-IN" sz="1500" dirty="0"/>
                        <a:t>Provide accessible platforms for users</a:t>
                      </a:r>
                    </a:p>
                  </a:txBody>
                  <a:tcPr marL="76887" marR="76887" marT="38443" marB="38443" anchor="ctr"/>
                </a:tc>
                <a:extLst>
                  <a:ext uri="{0D108BD9-81ED-4DB2-BD59-A6C34878D82A}">
                    <a16:rowId xmlns:a16="http://schemas.microsoft.com/office/drawing/2014/main" val="3309612471"/>
                  </a:ext>
                </a:extLst>
              </a:tr>
            </a:tbl>
          </a:graphicData>
        </a:graphic>
      </p:graphicFrame>
    </p:spTree>
    <p:extLst>
      <p:ext uri="{BB962C8B-B14F-4D97-AF65-F5344CB8AC3E}">
        <p14:creationId xmlns:p14="http://schemas.microsoft.com/office/powerpoint/2010/main" val="6071544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A4199-5FE8-4579-89F5-A45EE93E20E2}"/>
              </a:ext>
            </a:extLst>
          </p:cNvPr>
          <p:cNvSpPr>
            <a:spLocks noGrp="1"/>
          </p:cNvSpPr>
          <p:nvPr>
            <p:ph type="title"/>
          </p:nvPr>
        </p:nvSpPr>
        <p:spPr/>
        <p:txBody>
          <a:bodyPr>
            <a:normAutofit/>
          </a:bodyPr>
          <a:lstStyle/>
          <a:p>
            <a:pPr algn="ctr"/>
            <a:r>
              <a:rPr lang="en-US" sz="2800" b="1" dirty="0">
                <a:latin typeface="Times New Roman" panose="02020603050405020304" pitchFamily="18" charset="0"/>
                <a:cs typeface="Times New Roman" panose="02020603050405020304" pitchFamily="18" charset="0"/>
              </a:rPr>
              <a:t>S</a:t>
            </a:r>
            <a:r>
              <a:rPr lang="en-IN" sz="2800" b="1" dirty="0">
                <a:latin typeface="Times New Roman" panose="02020603050405020304" pitchFamily="18" charset="0"/>
                <a:cs typeface="Times New Roman" panose="02020603050405020304" pitchFamily="18" charset="0"/>
              </a:rPr>
              <a:t>COPE OF PROJECT</a:t>
            </a:r>
            <a:br>
              <a:rPr lang="en-IN" sz="2800" b="1" dirty="0">
                <a:latin typeface="Times New Roman" panose="02020603050405020304" pitchFamily="18" charset="0"/>
                <a:cs typeface="Times New Roman" panose="02020603050405020304" pitchFamily="18" charset="0"/>
              </a:rPr>
            </a:br>
            <a:endParaRPr lang="en-IN" sz="2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2EA2558-4139-4C1D-8CBA-7385575A58CD}"/>
              </a:ext>
            </a:extLst>
          </p:cNvPr>
          <p:cNvSpPr>
            <a:spLocks noGrp="1"/>
          </p:cNvSpPr>
          <p:nvPr>
            <p:ph idx="1"/>
          </p:nvPr>
        </p:nvSpPr>
        <p:spPr>
          <a:xfrm>
            <a:off x="838200" y="1297858"/>
            <a:ext cx="10515600" cy="4879105"/>
          </a:xfrm>
        </p:spPr>
        <p:txBody>
          <a:bodyPr>
            <a:normAutofit fontScale="92500" lnSpcReduction="10000"/>
          </a:bodyPr>
          <a:lstStyle/>
          <a:p>
            <a:pPr marL="0" indent="0">
              <a:buNone/>
            </a:pPr>
            <a:r>
              <a:rPr lang="en-IN" sz="2000" dirty="0"/>
              <a:t>The scope of AI Email Writer includes:</a:t>
            </a:r>
          </a:p>
          <a:p>
            <a:r>
              <a:rPr lang="en-IN" sz="2000" dirty="0"/>
              <a:t>Automated email content generation. </a:t>
            </a:r>
          </a:p>
          <a:p>
            <a:r>
              <a:rPr lang="en-IN" sz="2000" dirty="0"/>
              <a:t>Professional email writing assistance. </a:t>
            </a:r>
          </a:p>
          <a:p>
            <a:r>
              <a:rPr lang="en-IN" sz="2000" dirty="0"/>
              <a:t>Multilingual email support. </a:t>
            </a:r>
          </a:p>
          <a:p>
            <a:r>
              <a:rPr lang="en-IN" sz="2000" dirty="0"/>
              <a:t>Improving communication efficiency. </a:t>
            </a:r>
          </a:p>
          <a:p>
            <a:r>
              <a:rPr lang="en-IN" sz="2000" dirty="0"/>
              <a:t>Helping students, employees, and professionals. </a:t>
            </a:r>
          </a:p>
          <a:p>
            <a:r>
              <a:rPr lang="en-IN" sz="2000" dirty="0"/>
              <a:t>Reducing time spent on email drafting. </a:t>
            </a:r>
          </a:p>
          <a:p>
            <a:pPr marL="0" indent="0">
              <a:buNone/>
            </a:pPr>
            <a:r>
              <a:rPr lang="en-IN" sz="2000" b="1" dirty="0"/>
              <a:t>Future scope</a:t>
            </a:r>
            <a:r>
              <a:rPr lang="en-IN" sz="2000" dirty="0"/>
              <a:t>:</a:t>
            </a:r>
          </a:p>
          <a:p>
            <a:r>
              <a:rPr lang="en-IN" sz="2000" dirty="0"/>
              <a:t>Direct email sending. </a:t>
            </a:r>
          </a:p>
          <a:p>
            <a:r>
              <a:rPr lang="en-IN" sz="2000" dirty="0"/>
              <a:t>User accounts. </a:t>
            </a:r>
          </a:p>
          <a:p>
            <a:r>
              <a:rPr lang="en-IN" sz="2000" dirty="0"/>
              <a:t>AI model integration. </a:t>
            </a:r>
          </a:p>
          <a:p>
            <a:r>
              <a:rPr lang="en-IN" sz="2000" dirty="0"/>
              <a:t>Advanced personalization. </a:t>
            </a:r>
          </a:p>
          <a:p>
            <a:r>
              <a:rPr lang="en-IN" sz="2000" dirty="0"/>
              <a:t>Industry-specific email templates.</a:t>
            </a:r>
          </a:p>
        </p:txBody>
      </p:sp>
    </p:spTree>
    <p:extLst>
      <p:ext uri="{BB962C8B-B14F-4D97-AF65-F5344CB8AC3E}">
        <p14:creationId xmlns:p14="http://schemas.microsoft.com/office/powerpoint/2010/main" val="3805016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65A3A-AA21-432A-B7CC-143FE26A6D75}"/>
              </a:ext>
            </a:extLst>
          </p:cNvPr>
          <p:cNvSpPr txBox="1">
            <a:spLocks/>
          </p:cNvSpPr>
          <p:nvPr/>
        </p:nvSpPr>
        <p:spPr>
          <a:xfrm>
            <a:off x="1054509" y="884903"/>
            <a:ext cx="10670931" cy="540451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IN" sz="2400" b="1" dirty="0">
              <a:latin typeface="Times New Roman" panose="02020603050405020304" pitchFamily="18" charset="0"/>
              <a:cs typeface="Times New Roman" panose="02020603050405020304" pitchFamily="18" charset="0"/>
            </a:endParaRPr>
          </a:p>
          <a:p>
            <a:pPr algn="ctr"/>
            <a:r>
              <a:rPr lang="en-IN" sz="3200" b="1" dirty="0">
                <a:latin typeface="Times New Roman" panose="02020603050405020304" pitchFamily="18" charset="0"/>
                <a:cs typeface="Times New Roman" panose="02020603050405020304" pitchFamily="18" charset="0"/>
              </a:rPr>
              <a:t> OBJECTIVE OF PROJECT</a:t>
            </a:r>
          </a:p>
          <a:p>
            <a:pPr algn="ctr"/>
            <a:endParaRPr lang="en-IN" sz="3200" b="1" dirty="0">
              <a:latin typeface="Times New Roman" panose="02020603050405020304" pitchFamily="18" charset="0"/>
              <a:cs typeface="Times New Roman" panose="02020603050405020304" pitchFamily="18" charset="0"/>
            </a:endParaRPr>
          </a:p>
          <a:p>
            <a:r>
              <a:rPr lang="en-IN" sz="1900" b="1" dirty="0">
                <a:latin typeface="Calibri body"/>
              </a:rPr>
              <a:t>The main objectives are</a:t>
            </a:r>
            <a:r>
              <a:rPr lang="en-IN" sz="1900" dirty="0">
                <a:latin typeface="Calibri body"/>
              </a:rPr>
              <a:t>:</a:t>
            </a:r>
          </a:p>
          <a:p>
            <a:r>
              <a:rPr lang="en-IN" sz="1900" dirty="0">
                <a:latin typeface="Calibri body"/>
                <a:ea typeface="Calibri" panose="020F0502020204030204" pitchFamily="34" charset="0"/>
                <a:cs typeface="Calibri" panose="020F0502020204030204" pitchFamily="34" charset="0"/>
              </a:rPr>
              <a:t>To develop an application that automatically generates professional emails. </a:t>
            </a:r>
          </a:p>
          <a:p>
            <a:r>
              <a:rPr lang="en-IN" sz="1900" dirty="0">
                <a:latin typeface="Calibri body"/>
                <a:ea typeface="Calibri" panose="020F0502020204030204" pitchFamily="34" charset="0"/>
                <a:cs typeface="Calibri" panose="020F0502020204030204" pitchFamily="34" charset="0"/>
              </a:rPr>
              <a:t>To reduce manual effort in email writing. </a:t>
            </a:r>
          </a:p>
          <a:p>
            <a:r>
              <a:rPr lang="en-IN" sz="1900" dirty="0">
                <a:latin typeface="Calibri body"/>
                <a:ea typeface="Calibri" panose="020F0502020204030204" pitchFamily="34" charset="0"/>
                <a:cs typeface="Calibri" panose="020F0502020204030204" pitchFamily="34" charset="0"/>
              </a:rPr>
              <a:t>To provide personalized email content. </a:t>
            </a:r>
          </a:p>
          <a:p>
            <a:r>
              <a:rPr lang="en-IN" sz="1900" dirty="0">
                <a:latin typeface="Calibri body"/>
                <a:ea typeface="Calibri" panose="020F0502020204030204" pitchFamily="34" charset="0"/>
                <a:cs typeface="Calibri" panose="020F0502020204030204" pitchFamily="34" charset="0"/>
              </a:rPr>
              <a:t>To support multiple languages. </a:t>
            </a:r>
          </a:p>
          <a:p>
            <a:r>
              <a:rPr lang="en-IN" sz="1900" dirty="0">
                <a:latin typeface="Calibri body"/>
                <a:ea typeface="Calibri" panose="020F0502020204030204" pitchFamily="34" charset="0"/>
                <a:cs typeface="Calibri" panose="020F0502020204030204" pitchFamily="34" charset="0"/>
              </a:rPr>
              <a:t>To provide different writing </a:t>
            </a:r>
            <a:r>
              <a:rPr lang="en-IN" sz="1800" dirty="0">
                <a:latin typeface="Calibri body"/>
                <a:ea typeface="Calibri" panose="020F0502020204030204" pitchFamily="34" charset="0"/>
                <a:cs typeface="Calibri" panose="020F0502020204030204" pitchFamily="34" charset="0"/>
              </a:rPr>
              <a:t>tones</a:t>
            </a:r>
            <a:r>
              <a:rPr lang="en-IN" sz="1900" dirty="0">
                <a:latin typeface="Calibri body"/>
                <a:ea typeface="Calibri" panose="020F0502020204030204" pitchFamily="34" charset="0"/>
                <a:cs typeface="Calibri" panose="020F0502020204030204" pitchFamily="34" charset="0"/>
              </a:rPr>
              <a:t>. </a:t>
            </a:r>
          </a:p>
          <a:p>
            <a:r>
              <a:rPr lang="en-IN" sz="1900" dirty="0">
                <a:latin typeface="Calibri body"/>
                <a:ea typeface="Calibri" panose="020F0502020204030204" pitchFamily="34" charset="0"/>
                <a:cs typeface="Calibri" panose="020F0502020204030204" pitchFamily="34" charset="0"/>
              </a:rPr>
              <a:t>To improve communication quality. </a:t>
            </a:r>
          </a:p>
          <a:p>
            <a:r>
              <a:rPr lang="en-IN" sz="1900" dirty="0">
                <a:latin typeface="Calibri body"/>
                <a:ea typeface="Calibri" panose="020F0502020204030204" pitchFamily="34" charset="0"/>
                <a:cs typeface="Calibri" panose="020F0502020204030204" pitchFamily="34" charset="0"/>
              </a:rPr>
              <a:t>To create an easy-to-use interface</a:t>
            </a:r>
            <a:r>
              <a:rPr lang="en-IN" sz="1900" dirty="0">
                <a:latin typeface="Calibri body"/>
              </a:rPr>
              <a:t>. </a:t>
            </a:r>
          </a:p>
          <a:p>
            <a:endParaRPr lang="en-IN" sz="2800" dirty="0"/>
          </a:p>
        </p:txBody>
      </p:sp>
    </p:spTree>
    <p:extLst>
      <p:ext uri="{BB962C8B-B14F-4D97-AF65-F5344CB8AC3E}">
        <p14:creationId xmlns:p14="http://schemas.microsoft.com/office/powerpoint/2010/main" val="38638222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BA060-896C-4958-9DDF-7A3BB9EE184D}"/>
              </a:ext>
            </a:extLst>
          </p:cNvPr>
          <p:cNvSpPr>
            <a:spLocks noGrp="1"/>
          </p:cNvSpPr>
          <p:nvPr>
            <p:ph type="title"/>
          </p:nvPr>
        </p:nvSpPr>
        <p:spPr>
          <a:xfrm>
            <a:off x="293725" y="601390"/>
            <a:ext cx="11209754" cy="5799410"/>
          </a:xfrm>
        </p:spPr>
        <p:txBody>
          <a:bodyPr>
            <a:normAutofit/>
          </a:bodyPr>
          <a:lstStyle/>
          <a:p>
            <a:br>
              <a:rPr lang="en-IN" sz="2400" dirty="0"/>
            </a:br>
            <a:endParaRPr lang="en-IN" sz="2400" b="1"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04F719B6-6754-4F85-8E08-C903EB1A384E}"/>
              </a:ext>
            </a:extLst>
          </p:cNvPr>
          <p:cNvSpPr>
            <a:spLocks noGrp="1"/>
          </p:cNvSpPr>
          <p:nvPr>
            <p:ph idx="4294967295"/>
          </p:nvPr>
        </p:nvSpPr>
        <p:spPr>
          <a:xfrm>
            <a:off x="293725" y="792254"/>
            <a:ext cx="11204575" cy="6065746"/>
          </a:xfrm>
        </p:spPr>
        <p:txBody>
          <a:bodyPr anchor="ctr">
            <a:normAutofit fontScale="70000" lnSpcReduction="20000"/>
          </a:bodyPr>
          <a:lstStyle/>
          <a:p>
            <a:r>
              <a:rPr lang="en-IN" b="1"/>
              <a:t>Operating System:</a:t>
            </a:r>
          </a:p>
          <a:p>
            <a:r>
              <a:rPr lang="en-IN"/>
              <a:t>Windows / Linux / macOS </a:t>
            </a:r>
          </a:p>
          <a:p>
            <a:r>
              <a:rPr lang="en-IN" b="1"/>
              <a:t>Frontend:</a:t>
            </a:r>
          </a:p>
          <a:p>
            <a:r>
              <a:rPr lang="en-IN"/>
              <a:t>HTML </a:t>
            </a:r>
          </a:p>
          <a:p>
            <a:r>
              <a:rPr lang="en-IN"/>
              <a:t>CSS </a:t>
            </a:r>
          </a:p>
          <a:p>
            <a:r>
              <a:rPr lang="en-IN"/>
              <a:t>JavaScript </a:t>
            </a:r>
          </a:p>
          <a:p>
            <a:r>
              <a:rPr lang="en-IN" b="1"/>
              <a:t>Backend:</a:t>
            </a:r>
          </a:p>
          <a:p>
            <a:r>
              <a:rPr lang="en-IN"/>
              <a:t>Python </a:t>
            </a:r>
          </a:p>
          <a:p>
            <a:r>
              <a:rPr lang="en-IN"/>
              <a:t>Flask Framework </a:t>
            </a:r>
          </a:p>
          <a:p>
            <a:r>
              <a:rPr lang="en-IN" b="1"/>
              <a:t>Libraries:</a:t>
            </a:r>
          </a:p>
          <a:p>
            <a:r>
              <a:rPr lang="en-IN"/>
              <a:t>Flask-CORS </a:t>
            </a:r>
          </a:p>
          <a:p>
            <a:r>
              <a:rPr lang="en-IN"/>
              <a:t>Speech Recognition API </a:t>
            </a:r>
          </a:p>
          <a:p>
            <a:r>
              <a:rPr lang="en-IN" b="1"/>
              <a:t>Development Tools:</a:t>
            </a:r>
          </a:p>
          <a:p>
            <a:r>
              <a:rPr lang="en-IN"/>
              <a:t>Visual Studio Code </a:t>
            </a:r>
          </a:p>
          <a:p>
            <a:r>
              <a:rPr lang="en-IN"/>
              <a:t>Web Browser </a:t>
            </a:r>
          </a:p>
          <a:p>
            <a:r>
              <a:rPr lang="en-IN" b="1"/>
              <a:t>Deployment:</a:t>
            </a:r>
          </a:p>
          <a:p>
            <a:r>
              <a:rPr lang="en-IN"/>
              <a:t>Render / Vercel </a:t>
            </a:r>
          </a:p>
        </p:txBody>
      </p:sp>
      <p:sp>
        <p:nvSpPr>
          <p:cNvPr id="5" name="TextBox 4">
            <a:extLst>
              <a:ext uri="{FF2B5EF4-FFF2-40B4-BE49-F238E27FC236}">
                <a16:creationId xmlns:a16="http://schemas.microsoft.com/office/drawing/2014/main" id="{C84E18C0-AE05-43BA-94FF-08A727C71136}"/>
              </a:ext>
            </a:extLst>
          </p:cNvPr>
          <p:cNvSpPr txBox="1"/>
          <p:nvPr/>
        </p:nvSpPr>
        <p:spPr>
          <a:xfrm>
            <a:off x="0" y="108947"/>
            <a:ext cx="6368142" cy="492443"/>
          </a:xfrm>
          <a:prstGeom prst="rect">
            <a:avLst/>
          </a:prstGeom>
          <a:noFill/>
        </p:spPr>
        <p:txBody>
          <a:bodyPr wrap="square">
            <a:spAutoFit/>
          </a:bodyPr>
          <a:lstStyle/>
          <a:p>
            <a:r>
              <a:rPr lang="en-IN" sz="2400" b="1" dirty="0">
                <a:latin typeface="Times New Roman" pitchFamily="18" charset="0"/>
                <a:cs typeface="Times New Roman" pitchFamily="18" charset="0"/>
              </a:rPr>
              <a:t> </a:t>
            </a:r>
            <a:r>
              <a:rPr lang="en-IN" sz="2600" b="1" dirty="0">
                <a:latin typeface="Times New Roman" pitchFamily="18" charset="0"/>
                <a:cs typeface="Times New Roman" pitchFamily="18" charset="0"/>
              </a:rPr>
              <a:t>Software Requirements</a:t>
            </a:r>
            <a:endParaRPr lang="en-IN" sz="2600" dirty="0">
              <a:latin typeface="Times New Roman" pitchFamily="18" charset="0"/>
              <a:cs typeface="Times New Roman" pitchFamily="18" charset="0"/>
            </a:endParaRPr>
          </a:p>
        </p:txBody>
      </p:sp>
    </p:spTree>
    <p:extLst>
      <p:ext uri="{BB962C8B-B14F-4D97-AF65-F5344CB8AC3E}">
        <p14:creationId xmlns:p14="http://schemas.microsoft.com/office/powerpoint/2010/main" val="30805873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2680E-C002-4317-9F23-034E8037475F}"/>
              </a:ext>
            </a:extLst>
          </p:cNvPr>
          <p:cNvSpPr>
            <a:spLocks noGrp="1"/>
          </p:cNvSpPr>
          <p:nvPr>
            <p:ph type="title"/>
          </p:nvPr>
        </p:nvSpPr>
        <p:spPr>
          <a:xfrm>
            <a:off x="838200" y="365125"/>
            <a:ext cx="10515600" cy="6143830"/>
          </a:xfrm>
        </p:spPr>
        <p:txBody>
          <a:bodyPr>
            <a:normAutofit/>
          </a:bodyPr>
          <a:lstStyle/>
          <a:p>
            <a:r>
              <a:rPr lang="en-IN" sz="2000" b="1" dirty="0"/>
              <a:t>HARDWARE REQUITREMENTS</a:t>
            </a:r>
            <a:br>
              <a:rPr lang="en-IN" sz="2000" b="1" dirty="0"/>
            </a:br>
            <a:br>
              <a:rPr lang="en-IN" sz="2000" b="1" dirty="0"/>
            </a:br>
            <a:r>
              <a:rPr lang="en-IN" sz="1800" b="1" dirty="0">
                <a:latin typeface="Calibri body"/>
              </a:rPr>
              <a:t>Minimum Requirements:</a:t>
            </a:r>
            <a:br>
              <a:rPr lang="en-IN" sz="1800" b="1" dirty="0">
                <a:latin typeface="Calibri body"/>
              </a:rPr>
            </a:br>
            <a:r>
              <a:rPr lang="en-IN" sz="1800" b="1" dirty="0">
                <a:latin typeface="Calibri body"/>
              </a:rPr>
              <a:t>Processor:</a:t>
            </a:r>
            <a:br>
              <a:rPr lang="en-IN" sz="1800" dirty="0">
                <a:latin typeface="Calibri body"/>
              </a:rPr>
            </a:br>
            <a:r>
              <a:rPr lang="en-IN" sz="1800" dirty="0">
                <a:latin typeface="Calibri body"/>
              </a:rPr>
              <a:t>Intel i3 or above </a:t>
            </a:r>
            <a:br>
              <a:rPr lang="en-IN" sz="1800" dirty="0">
                <a:latin typeface="Calibri body"/>
              </a:rPr>
            </a:br>
            <a:r>
              <a:rPr lang="en-IN" sz="1800" b="1" dirty="0">
                <a:latin typeface="Calibri body"/>
              </a:rPr>
              <a:t>RAM:</a:t>
            </a:r>
            <a:br>
              <a:rPr lang="en-IN" sz="1800" dirty="0">
                <a:latin typeface="Calibri body"/>
              </a:rPr>
            </a:br>
            <a:r>
              <a:rPr lang="en-IN" sz="1800" dirty="0">
                <a:latin typeface="Calibri body"/>
              </a:rPr>
              <a:t>4 GB minimum </a:t>
            </a:r>
            <a:br>
              <a:rPr lang="en-IN" sz="1800" dirty="0">
                <a:latin typeface="Calibri body"/>
              </a:rPr>
            </a:br>
            <a:r>
              <a:rPr lang="en-IN" sz="1800" b="1" dirty="0">
                <a:latin typeface="Calibri body"/>
              </a:rPr>
              <a:t>Storage:</a:t>
            </a:r>
            <a:br>
              <a:rPr lang="en-IN" sz="1800" dirty="0">
                <a:latin typeface="Calibri body"/>
              </a:rPr>
            </a:br>
            <a:r>
              <a:rPr lang="en-IN" sz="1800" dirty="0">
                <a:latin typeface="Calibri body"/>
              </a:rPr>
              <a:t>500 MB available space </a:t>
            </a:r>
            <a:br>
              <a:rPr lang="en-IN" sz="1800" dirty="0">
                <a:latin typeface="Calibri body"/>
              </a:rPr>
            </a:br>
            <a:r>
              <a:rPr lang="en-IN" sz="1800" b="1" dirty="0">
                <a:latin typeface="Calibri body"/>
              </a:rPr>
              <a:t>Input Devices:</a:t>
            </a:r>
            <a:br>
              <a:rPr lang="en-IN" sz="1800" dirty="0">
                <a:latin typeface="Calibri body"/>
              </a:rPr>
            </a:br>
            <a:r>
              <a:rPr lang="en-IN" sz="1800" dirty="0">
                <a:latin typeface="Calibri body"/>
              </a:rPr>
              <a:t>Keyboard </a:t>
            </a:r>
            <a:br>
              <a:rPr lang="en-IN" sz="1800" dirty="0">
                <a:latin typeface="Calibri body"/>
              </a:rPr>
            </a:br>
            <a:r>
              <a:rPr lang="en-IN" sz="1800" dirty="0">
                <a:latin typeface="Calibri body"/>
              </a:rPr>
              <a:t>Mouse </a:t>
            </a:r>
            <a:br>
              <a:rPr lang="en-IN" sz="1800" dirty="0">
                <a:latin typeface="Calibri body"/>
              </a:rPr>
            </a:br>
            <a:r>
              <a:rPr lang="en-IN" sz="1800" dirty="0">
                <a:latin typeface="Calibri body"/>
              </a:rPr>
              <a:t>Microphone (for voice input) </a:t>
            </a:r>
            <a:br>
              <a:rPr lang="en-IN" sz="1800" dirty="0">
                <a:latin typeface="Calibri body"/>
              </a:rPr>
            </a:br>
            <a:r>
              <a:rPr lang="en-IN" sz="1800" b="1" dirty="0">
                <a:latin typeface="Calibri body"/>
              </a:rPr>
              <a:t>Display:</a:t>
            </a:r>
            <a:br>
              <a:rPr lang="en-IN" sz="1800" dirty="0">
                <a:latin typeface="Calibri body"/>
              </a:rPr>
            </a:br>
            <a:r>
              <a:rPr lang="en-IN" sz="1800" dirty="0">
                <a:latin typeface="Calibri body"/>
              </a:rPr>
              <a:t>Standard monitor</a:t>
            </a:r>
            <a:br>
              <a:rPr lang="en-IN" sz="1800" dirty="0">
                <a:latin typeface="Calibri body"/>
              </a:rPr>
            </a:br>
            <a:br>
              <a:rPr lang="en-IN"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330209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23A40-9E8A-4D3D-A900-9D0F7E979F63}"/>
              </a:ext>
            </a:extLst>
          </p:cNvPr>
          <p:cNvSpPr>
            <a:spLocks noGrp="1"/>
          </p:cNvSpPr>
          <p:nvPr>
            <p:ph type="title"/>
          </p:nvPr>
        </p:nvSpPr>
        <p:spPr>
          <a:xfrm>
            <a:off x="838200" y="397782"/>
            <a:ext cx="10515600" cy="1325563"/>
          </a:xfrm>
        </p:spPr>
        <p:txBody>
          <a:bodyPr>
            <a:normAutofit fontScale="90000"/>
          </a:bodyPr>
          <a:lstStyle/>
          <a:p>
            <a:pPr algn="ctr"/>
            <a:br>
              <a:rPr lang="en-IN" sz="3100" dirty="0">
                <a:latin typeface="Times New Roman" panose="02020603050405020304" pitchFamily="18" charset="0"/>
                <a:cs typeface="Times New Roman" panose="02020603050405020304" pitchFamily="18" charset="0"/>
              </a:rPr>
            </a:br>
            <a:br>
              <a:rPr lang="en-IN" sz="3100" dirty="0">
                <a:latin typeface="Times New Roman" panose="02020603050405020304" pitchFamily="18" charset="0"/>
                <a:cs typeface="Times New Roman" panose="02020603050405020304" pitchFamily="18" charset="0"/>
              </a:rPr>
            </a:br>
            <a:br>
              <a:rPr lang="en-IN" sz="3100" dirty="0">
                <a:latin typeface="Times New Roman" panose="02020603050405020304" pitchFamily="18" charset="0"/>
                <a:cs typeface="Times New Roman" panose="02020603050405020304" pitchFamily="18" charset="0"/>
              </a:rPr>
            </a:br>
            <a:r>
              <a:rPr lang="en-IN" sz="3100" dirty="0">
                <a:latin typeface="Times New Roman" panose="02020603050405020304" pitchFamily="18" charset="0"/>
                <a:cs typeface="Times New Roman" panose="02020603050405020304" pitchFamily="18" charset="0"/>
              </a:rPr>
              <a:t>SYSTEM ARCHITECTURE</a:t>
            </a:r>
            <a:br>
              <a:rPr lang="en-IN" sz="3100" dirty="0">
                <a:latin typeface="Times New Roman" panose="02020603050405020304" pitchFamily="18" charset="0"/>
                <a:cs typeface="Times New Roman" panose="02020603050405020304" pitchFamily="18" charset="0"/>
              </a:rPr>
            </a:br>
            <a:r>
              <a:rPr lang="en-IN" sz="3100" dirty="0">
                <a:latin typeface="Times New Roman" panose="02020603050405020304" pitchFamily="18" charset="0"/>
                <a:cs typeface="Times New Roman" panose="02020603050405020304" pitchFamily="18" charset="0"/>
              </a:rPr>
              <a:t> </a:t>
            </a:r>
            <a:br>
              <a:rPr lang="en-IN" dirty="0">
                <a:latin typeface="Times New Roman" panose="02020603050405020304" pitchFamily="18" charset="0"/>
                <a:cs typeface="Times New Roman" panose="02020603050405020304" pitchFamily="18" charset="0"/>
              </a:rPr>
            </a:br>
            <a:br>
              <a:rPr lang="en-IN" sz="2200" dirty="0"/>
            </a:br>
            <a:endParaRPr lang="en-IN" sz="2200" dirty="0"/>
          </a:p>
        </p:txBody>
      </p:sp>
      <p:sp>
        <p:nvSpPr>
          <p:cNvPr id="4" name="TextBox 3">
            <a:extLst>
              <a:ext uri="{FF2B5EF4-FFF2-40B4-BE49-F238E27FC236}">
                <a16:creationId xmlns:a16="http://schemas.microsoft.com/office/drawing/2014/main" id="{4B282756-8004-4DCE-9C56-60F4D598C12D}"/>
              </a:ext>
            </a:extLst>
          </p:cNvPr>
          <p:cNvSpPr txBox="1"/>
          <p:nvPr/>
        </p:nvSpPr>
        <p:spPr>
          <a:xfrm>
            <a:off x="1316736" y="1723346"/>
            <a:ext cx="8672838" cy="954107"/>
          </a:xfrm>
          <a:prstGeom prst="rect">
            <a:avLst/>
          </a:prstGeom>
          <a:noFill/>
        </p:spPr>
        <p:txBody>
          <a:bodyPr wrap="square">
            <a:spAutoFit/>
          </a:bodyPr>
          <a:lstStyle/>
          <a:p>
            <a:pPr algn="ctr"/>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819D45AC-8AF1-5459-32C1-143EEEBE64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2500" y="0"/>
            <a:ext cx="10287000" cy="6858000"/>
          </a:xfrm>
          <a:prstGeom prst="rect">
            <a:avLst/>
          </a:prstGeom>
        </p:spPr>
      </p:pic>
    </p:spTree>
    <p:extLst>
      <p:ext uri="{BB962C8B-B14F-4D97-AF65-F5344CB8AC3E}">
        <p14:creationId xmlns:p14="http://schemas.microsoft.com/office/powerpoint/2010/main" val="19267493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87AD6-3944-429B-8C9A-A061419E8785}"/>
              </a:ext>
            </a:extLst>
          </p:cNvPr>
          <p:cNvSpPr>
            <a:spLocks noGrp="1"/>
          </p:cNvSpPr>
          <p:nvPr>
            <p:ph type="title"/>
          </p:nvPr>
        </p:nvSpPr>
        <p:spPr>
          <a:xfrm>
            <a:off x="196645" y="536480"/>
            <a:ext cx="11157155" cy="6321520"/>
          </a:xfrm>
        </p:spPr>
        <p:txBody>
          <a:bodyPr>
            <a:noAutofit/>
          </a:bodyPr>
          <a:lstStyle/>
          <a:p>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p:txBody>
      </p:sp>
      <p:sp>
        <p:nvSpPr>
          <p:cNvPr id="3" name="Rectangle 2"/>
          <p:cNvSpPr/>
          <p:nvPr/>
        </p:nvSpPr>
        <p:spPr>
          <a:xfrm>
            <a:off x="4234881" y="167148"/>
            <a:ext cx="2720535" cy="369332"/>
          </a:xfrm>
          <a:prstGeom prst="rect">
            <a:avLst/>
          </a:prstGeom>
        </p:spPr>
        <p:txBody>
          <a:bodyPr wrap="square">
            <a:spAutoFit/>
          </a:bodyPr>
          <a:lstStyle/>
          <a:p>
            <a:r>
              <a:rPr lang="en-US" b="1" dirty="0">
                <a:latin typeface="Times New Roman" panose="02020603050405020304" pitchFamily="18" charset="0"/>
                <a:cs typeface="Times New Roman" panose="02020603050405020304" pitchFamily="18" charset="0"/>
              </a:rPr>
              <a:t>TECHNOLOGY USED</a:t>
            </a:r>
            <a:r>
              <a:rPr lang="en-US" dirty="0">
                <a:latin typeface="Times New Roman" panose="02020603050405020304" pitchFamily="18" charset="0"/>
                <a:cs typeface="Times New Roman" panose="02020603050405020304" pitchFamily="18" charset="0"/>
              </a:rPr>
              <a:t>:</a:t>
            </a:r>
            <a:endParaRPr lang="en-GB" dirty="0"/>
          </a:p>
        </p:txBody>
      </p:sp>
      <p:sp>
        <p:nvSpPr>
          <p:cNvPr id="6" name="TextBox 5">
            <a:extLst>
              <a:ext uri="{FF2B5EF4-FFF2-40B4-BE49-F238E27FC236}">
                <a16:creationId xmlns:a16="http://schemas.microsoft.com/office/drawing/2014/main" id="{8E285CB6-F45F-73EA-84B1-F6CA39D38038}"/>
              </a:ext>
            </a:extLst>
          </p:cNvPr>
          <p:cNvSpPr txBox="1"/>
          <p:nvPr/>
        </p:nvSpPr>
        <p:spPr>
          <a:xfrm>
            <a:off x="934065" y="615303"/>
            <a:ext cx="9222658" cy="5078313"/>
          </a:xfrm>
          <a:prstGeom prst="rect">
            <a:avLst/>
          </a:prstGeom>
          <a:noFill/>
        </p:spPr>
        <p:txBody>
          <a:bodyPr wrap="square">
            <a:spAutoFit/>
          </a:bodyPr>
          <a:lstStyle/>
          <a:p>
            <a:pPr>
              <a:buNone/>
            </a:pPr>
            <a:r>
              <a:rPr lang="en-IN" b="1" dirty="0"/>
              <a:t>Frontend Technologies</a:t>
            </a:r>
          </a:p>
          <a:p>
            <a:pPr>
              <a:buNone/>
            </a:pPr>
            <a:r>
              <a:rPr lang="en-IN" b="1" dirty="0"/>
              <a:t>HTML</a:t>
            </a:r>
          </a:p>
          <a:p>
            <a:pPr>
              <a:buNone/>
            </a:pPr>
            <a:r>
              <a:rPr lang="en-IN" dirty="0"/>
              <a:t>Used to create webpage structure.</a:t>
            </a:r>
          </a:p>
          <a:p>
            <a:pPr>
              <a:buNone/>
            </a:pPr>
            <a:r>
              <a:rPr lang="en-IN" b="1" dirty="0"/>
              <a:t>CSS</a:t>
            </a:r>
          </a:p>
          <a:p>
            <a:pPr>
              <a:buNone/>
            </a:pPr>
            <a:r>
              <a:rPr lang="en-IN" dirty="0"/>
              <a:t>Used for styling, responsive design, and dark mode.</a:t>
            </a:r>
          </a:p>
          <a:p>
            <a:pPr>
              <a:buNone/>
            </a:pPr>
            <a:r>
              <a:rPr lang="en-IN" b="1" dirty="0"/>
              <a:t>JavaScript</a:t>
            </a:r>
          </a:p>
          <a:p>
            <a:pPr>
              <a:buNone/>
            </a:pPr>
            <a:r>
              <a:rPr lang="en-IN" dirty="0"/>
              <a:t>Used for:</a:t>
            </a:r>
          </a:p>
          <a:p>
            <a:pPr>
              <a:buFont typeface="Arial" panose="020B0604020202020204" pitchFamily="34" charset="0"/>
              <a:buChar char="•"/>
            </a:pPr>
            <a:r>
              <a:rPr lang="en-IN" dirty="0"/>
              <a:t>User interaction </a:t>
            </a:r>
          </a:p>
          <a:p>
            <a:pPr>
              <a:buFont typeface="Arial" panose="020B0604020202020204" pitchFamily="34" charset="0"/>
              <a:buChar char="•"/>
            </a:pPr>
            <a:r>
              <a:rPr lang="en-IN" dirty="0"/>
              <a:t>API calls </a:t>
            </a:r>
          </a:p>
          <a:p>
            <a:pPr>
              <a:buFont typeface="Arial" panose="020B0604020202020204" pitchFamily="34" charset="0"/>
              <a:buChar char="•"/>
            </a:pPr>
            <a:r>
              <a:rPr lang="en-IN" dirty="0"/>
              <a:t>Copy feature </a:t>
            </a:r>
          </a:p>
          <a:p>
            <a:pPr>
              <a:buFont typeface="Arial" panose="020B0604020202020204" pitchFamily="34" charset="0"/>
              <a:buChar char="•"/>
            </a:pPr>
            <a:r>
              <a:rPr lang="en-IN" dirty="0"/>
              <a:t>Voice input </a:t>
            </a:r>
          </a:p>
          <a:p>
            <a:pPr>
              <a:buNone/>
            </a:pPr>
            <a:r>
              <a:rPr lang="en-IN" b="1" dirty="0"/>
              <a:t>Backend Technology</a:t>
            </a:r>
          </a:p>
          <a:p>
            <a:pPr>
              <a:buNone/>
            </a:pPr>
            <a:r>
              <a:rPr lang="en-IN" b="1" dirty="0"/>
              <a:t>Python Flask</a:t>
            </a:r>
          </a:p>
          <a:p>
            <a:pPr>
              <a:buNone/>
            </a:pPr>
            <a:r>
              <a:rPr lang="en-IN" dirty="0"/>
              <a:t>Used for:</a:t>
            </a:r>
          </a:p>
          <a:p>
            <a:pPr>
              <a:buFont typeface="Arial" panose="020B0604020202020204" pitchFamily="34" charset="0"/>
              <a:buChar char="•"/>
            </a:pPr>
            <a:r>
              <a:rPr lang="en-IN" dirty="0"/>
              <a:t>Handling requests </a:t>
            </a:r>
          </a:p>
          <a:p>
            <a:pPr>
              <a:buFont typeface="Arial" panose="020B0604020202020204" pitchFamily="34" charset="0"/>
              <a:buChar char="•"/>
            </a:pPr>
            <a:r>
              <a:rPr lang="en-IN" dirty="0"/>
              <a:t>Processing user input </a:t>
            </a:r>
          </a:p>
          <a:p>
            <a:pPr>
              <a:buFont typeface="Arial" panose="020B0604020202020204" pitchFamily="34" charset="0"/>
              <a:buChar char="•"/>
            </a:pPr>
            <a:r>
              <a:rPr lang="en-IN" dirty="0"/>
              <a:t>Generating email content </a:t>
            </a:r>
          </a:p>
          <a:p>
            <a:pPr>
              <a:buFont typeface="Arial" panose="020B0604020202020204" pitchFamily="34" charset="0"/>
              <a:buChar char="•"/>
            </a:pPr>
            <a:r>
              <a:rPr lang="en-IN" dirty="0"/>
              <a:t>Connecting frontend and backend </a:t>
            </a:r>
          </a:p>
        </p:txBody>
      </p:sp>
    </p:spTree>
    <p:extLst>
      <p:ext uri="{BB962C8B-B14F-4D97-AF65-F5344CB8AC3E}">
        <p14:creationId xmlns:p14="http://schemas.microsoft.com/office/powerpoint/2010/main" val="13166130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1"/>
            <a:ext cx="11353800" cy="6858000"/>
          </a:xfrm>
        </p:spPr>
        <p:txBody>
          <a:bodyPr>
            <a:normAutofit/>
          </a:bodyPr>
          <a:lstStyle/>
          <a:p>
            <a:r>
              <a:rPr lang="en-IN" sz="1800" b="1" dirty="0">
                <a:latin typeface="Calibri body"/>
              </a:rPr>
              <a:t>ALGORITHMS USED</a:t>
            </a:r>
            <a:br>
              <a:rPr lang="en-IN" sz="1800" b="1" dirty="0"/>
            </a:br>
            <a:br>
              <a:rPr lang="en-IN" sz="1800" b="1" dirty="0"/>
            </a:br>
            <a:r>
              <a:rPr lang="en-IN" sz="1800" b="1" dirty="0"/>
              <a:t>1. </a:t>
            </a:r>
            <a:r>
              <a:rPr lang="en-IN" sz="1800" b="1" dirty="0">
                <a:latin typeface="Calibri body"/>
              </a:rPr>
              <a:t>Rule-Based Text Generation Algorithm</a:t>
            </a:r>
            <a:br>
              <a:rPr lang="en-IN" sz="1800" b="1" dirty="0"/>
            </a:br>
            <a:r>
              <a:rPr lang="en-IN" sz="1800" b="1" dirty="0">
                <a:latin typeface="Calibri body"/>
              </a:rPr>
              <a:t>Steps:</a:t>
            </a:r>
            <a:br>
              <a:rPr lang="en-IN" sz="1800" dirty="0">
                <a:latin typeface="Calibri body"/>
              </a:rPr>
            </a:br>
            <a:r>
              <a:rPr lang="en-IN" sz="1800" dirty="0">
                <a:latin typeface="Calibri body"/>
              </a:rPr>
              <a:t>Receive user input. </a:t>
            </a:r>
            <a:br>
              <a:rPr lang="en-IN" sz="1800" dirty="0">
                <a:latin typeface="Calibri body"/>
              </a:rPr>
            </a:br>
            <a:r>
              <a:rPr lang="en-IN" sz="1800" dirty="0" err="1">
                <a:latin typeface="Calibri body"/>
              </a:rPr>
              <a:t>Analyze</a:t>
            </a:r>
            <a:r>
              <a:rPr lang="en-IN" sz="1800" dirty="0">
                <a:latin typeface="Calibri body"/>
              </a:rPr>
              <a:t> keywords. </a:t>
            </a:r>
            <a:br>
              <a:rPr lang="en-IN" sz="1800" dirty="0">
                <a:latin typeface="Calibri body"/>
              </a:rPr>
            </a:br>
            <a:r>
              <a:rPr lang="en-IN" sz="1800" dirty="0">
                <a:latin typeface="Calibri body"/>
              </a:rPr>
              <a:t>Identify email category. </a:t>
            </a:r>
            <a:br>
              <a:rPr lang="en-IN" sz="1800" dirty="0">
                <a:latin typeface="Calibri body"/>
              </a:rPr>
            </a:br>
            <a:r>
              <a:rPr lang="en-IN" sz="1800" dirty="0">
                <a:latin typeface="Calibri body"/>
              </a:rPr>
              <a:t>Select suitable template. </a:t>
            </a:r>
            <a:br>
              <a:rPr lang="en-IN" sz="1800" dirty="0">
                <a:latin typeface="Calibri body"/>
              </a:rPr>
            </a:br>
            <a:r>
              <a:rPr lang="en-IN" sz="1800" dirty="0">
                <a:latin typeface="Calibri body"/>
              </a:rPr>
              <a:t>Generate subject. </a:t>
            </a:r>
            <a:br>
              <a:rPr lang="en-IN" sz="1800" dirty="0">
                <a:latin typeface="Calibri body"/>
              </a:rPr>
            </a:br>
            <a:r>
              <a:rPr lang="en-IN" sz="1800" dirty="0">
                <a:latin typeface="Calibri body"/>
              </a:rPr>
              <a:t>Create email body. </a:t>
            </a:r>
            <a:br>
              <a:rPr lang="en-IN" sz="1800" dirty="0">
                <a:latin typeface="Calibri body"/>
              </a:rPr>
            </a:br>
            <a:r>
              <a:rPr lang="en-IN" sz="1800" dirty="0">
                <a:latin typeface="Calibri body"/>
              </a:rPr>
              <a:t>Display final email. </a:t>
            </a:r>
            <a:br>
              <a:rPr lang="en-IN" sz="1800" dirty="0">
                <a:latin typeface="Calibri body"/>
              </a:rPr>
            </a:br>
            <a:br>
              <a:rPr lang="en-IN" sz="1800" dirty="0"/>
            </a:br>
            <a:r>
              <a:rPr lang="en-IN" sz="1800" b="1" dirty="0"/>
              <a:t>2. </a:t>
            </a:r>
            <a:r>
              <a:rPr lang="en-IN" sz="1800" b="1" dirty="0">
                <a:latin typeface="Calibri body"/>
              </a:rPr>
              <a:t>Smart Subject Generation Algorithm</a:t>
            </a:r>
            <a:br>
              <a:rPr lang="en-IN" sz="1800" b="1" dirty="0"/>
            </a:br>
            <a:r>
              <a:rPr lang="en-IN" sz="1800" dirty="0">
                <a:latin typeface="Calibri body"/>
              </a:rPr>
              <a:t>Steps:</a:t>
            </a:r>
            <a:br>
              <a:rPr lang="en-IN" sz="1800" dirty="0">
                <a:latin typeface="Calibri body"/>
              </a:rPr>
            </a:br>
            <a:r>
              <a:rPr lang="en-IN" sz="1800" dirty="0">
                <a:latin typeface="Calibri body"/>
              </a:rPr>
              <a:t>Take user prompt. </a:t>
            </a:r>
            <a:br>
              <a:rPr lang="en-IN" sz="1800" dirty="0">
                <a:latin typeface="Calibri body"/>
              </a:rPr>
            </a:br>
            <a:r>
              <a:rPr lang="en-IN" sz="1800" dirty="0">
                <a:latin typeface="Calibri body"/>
              </a:rPr>
              <a:t>Convert text into lowercase. </a:t>
            </a:r>
            <a:br>
              <a:rPr lang="en-IN" sz="1800" dirty="0">
                <a:latin typeface="Calibri body"/>
              </a:rPr>
            </a:br>
            <a:r>
              <a:rPr lang="en-IN" sz="1800" dirty="0">
                <a:latin typeface="Calibri body"/>
              </a:rPr>
              <a:t>Match keywords. </a:t>
            </a:r>
            <a:br>
              <a:rPr lang="en-IN" sz="1800" dirty="0">
                <a:latin typeface="Calibri body"/>
              </a:rPr>
            </a:br>
            <a:r>
              <a:rPr lang="en-IN" sz="1800" dirty="0">
                <a:latin typeface="Calibri body"/>
              </a:rPr>
              <a:t>Generate suitable subject. </a:t>
            </a:r>
            <a:br>
              <a:rPr lang="en-IN" sz="1800" dirty="0">
                <a:latin typeface="Calibri body"/>
              </a:rPr>
            </a:br>
            <a:br>
              <a:rPr lang="en-IN" sz="1800" dirty="0"/>
            </a:br>
            <a:endParaRPr lang="en-GB" sz="1800" b="1" dirty="0">
              <a:latin typeface="Calibri body"/>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38AA8-8698-4EE3-B6F4-8F6FEAC3A1D3}"/>
              </a:ext>
            </a:extLst>
          </p:cNvPr>
          <p:cNvSpPr>
            <a:spLocks noGrp="1"/>
          </p:cNvSpPr>
          <p:nvPr>
            <p:ph type="title"/>
          </p:nvPr>
        </p:nvSpPr>
        <p:spPr/>
        <p:txBody>
          <a:bodyPr>
            <a:normAutofit/>
          </a:bodyPr>
          <a:lstStyle/>
          <a:p>
            <a:pPr algn="ctr"/>
            <a:r>
              <a:rPr lang="en-US" sz="2800" dirty="0">
                <a:latin typeface="Times New Roman" panose="02020603050405020304" pitchFamily="18" charset="0"/>
                <a:cs typeface="Times New Roman" panose="02020603050405020304" pitchFamily="18" charset="0"/>
              </a:rPr>
              <a:t>C</a:t>
            </a:r>
            <a:r>
              <a:rPr lang="en-IN" sz="2800" dirty="0">
                <a:latin typeface="Times New Roman" panose="02020603050405020304" pitchFamily="18" charset="0"/>
                <a:cs typeface="Times New Roman" panose="02020603050405020304" pitchFamily="18" charset="0"/>
              </a:rPr>
              <a:t>ODE</a:t>
            </a:r>
          </a:p>
        </p:txBody>
      </p:sp>
      <p:pic>
        <p:nvPicPr>
          <p:cNvPr id="5" name="Picture 4">
            <a:extLst>
              <a:ext uri="{FF2B5EF4-FFF2-40B4-BE49-F238E27FC236}">
                <a16:creationId xmlns:a16="http://schemas.microsoft.com/office/drawing/2014/main" id="{2B65280F-AD20-A487-3A25-646CE857BF3D}"/>
              </a:ext>
            </a:extLst>
          </p:cNvPr>
          <p:cNvPicPr>
            <a:picLocks noChangeAspect="1"/>
          </p:cNvPicPr>
          <p:nvPr/>
        </p:nvPicPr>
        <p:blipFill>
          <a:blip r:embed="rId2"/>
          <a:stretch>
            <a:fillRect/>
          </a:stretch>
        </p:blipFill>
        <p:spPr>
          <a:xfrm>
            <a:off x="727587" y="1264367"/>
            <a:ext cx="10078065" cy="5353972"/>
          </a:xfrm>
          <a:prstGeom prst="rect">
            <a:avLst/>
          </a:prstGeom>
        </p:spPr>
      </p:pic>
    </p:spTree>
    <p:extLst>
      <p:ext uri="{BB962C8B-B14F-4D97-AF65-F5344CB8AC3E}">
        <p14:creationId xmlns:p14="http://schemas.microsoft.com/office/powerpoint/2010/main" val="10459664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E67D9B0-D9DF-DDCD-572F-356563C66AD5}"/>
              </a:ext>
            </a:extLst>
          </p:cNvPr>
          <p:cNvPicPr>
            <a:picLocks noChangeAspect="1"/>
          </p:cNvPicPr>
          <p:nvPr/>
        </p:nvPicPr>
        <p:blipFill>
          <a:blip r:embed="rId2"/>
          <a:stretch>
            <a:fillRect/>
          </a:stretch>
        </p:blipFill>
        <p:spPr>
          <a:xfrm>
            <a:off x="5378244" y="0"/>
            <a:ext cx="6813755" cy="3116826"/>
          </a:xfrm>
          <a:prstGeom prst="rect">
            <a:avLst/>
          </a:prstGeom>
        </p:spPr>
      </p:pic>
      <p:pic>
        <p:nvPicPr>
          <p:cNvPr id="6" name="Picture 5">
            <a:extLst>
              <a:ext uri="{FF2B5EF4-FFF2-40B4-BE49-F238E27FC236}">
                <a16:creationId xmlns:a16="http://schemas.microsoft.com/office/drawing/2014/main" id="{9E22E995-9E88-020E-95A4-D2E0DB3B7ABB}"/>
              </a:ext>
            </a:extLst>
          </p:cNvPr>
          <p:cNvPicPr>
            <a:picLocks noChangeAspect="1"/>
          </p:cNvPicPr>
          <p:nvPr/>
        </p:nvPicPr>
        <p:blipFill>
          <a:blip r:embed="rId3"/>
          <a:stretch>
            <a:fillRect/>
          </a:stretch>
        </p:blipFill>
        <p:spPr>
          <a:xfrm>
            <a:off x="78658" y="3201398"/>
            <a:ext cx="6469626" cy="3500391"/>
          </a:xfrm>
          <a:prstGeom prst="rect">
            <a:avLst/>
          </a:prstGeom>
        </p:spPr>
      </p:pic>
    </p:spTree>
    <p:extLst>
      <p:ext uri="{BB962C8B-B14F-4D97-AF65-F5344CB8AC3E}">
        <p14:creationId xmlns:p14="http://schemas.microsoft.com/office/powerpoint/2010/main" val="42068246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4E381E-5BCF-4A15-8542-CE8C81E8BE7F}"/>
              </a:ext>
            </a:extLst>
          </p:cNvPr>
          <p:cNvSpPr>
            <a:spLocks noGrp="1"/>
          </p:cNvSpPr>
          <p:nvPr>
            <p:ph type="title"/>
          </p:nvPr>
        </p:nvSpPr>
        <p:spPr>
          <a:xfrm>
            <a:off x="838200" y="1883663"/>
            <a:ext cx="10515600" cy="3042297"/>
          </a:xfrm>
        </p:spPr>
        <p:txBody>
          <a:bodyPr>
            <a:normAutofit/>
          </a:bodyPr>
          <a:lstStyle/>
          <a:p>
            <a:r>
              <a:rPr lang="en-IN" sz="1800" dirty="0">
                <a:latin typeface="Calibri body"/>
              </a:rPr>
              <a:t>The AI Email Writer project provides an efficient solution for generating professional emails automatically. The application simplifies email writing by providing personalized content, multiple language support, tone selection, and useful productivity features.</a:t>
            </a:r>
            <a:br>
              <a:rPr lang="en-IN" sz="1800" dirty="0">
                <a:latin typeface="Calibri body"/>
              </a:rPr>
            </a:br>
            <a:r>
              <a:rPr lang="en-IN" sz="1800" dirty="0">
                <a:latin typeface="Calibri body"/>
              </a:rPr>
              <a:t>This project demonstrates how web technologies and intelligent text processing can improve everyday communication.</a:t>
            </a:r>
            <a:br>
              <a:rPr lang="en-IN" sz="1800" dirty="0">
                <a:latin typeface="Calibri body"/>
              </a:rPr>
            </a:br>
            <a:endParaRPr lang="en-IN" sz="1800" dirty="0">
              <a:latin typeface="Calibri body"/>
              <a:cs typeface="Times New Roman" panose="02020603050405020304" pitchFamily="18" charset="0"/>
            </a:endParaRPr>
          </a:p>
        </p:txBody>
      </p:sp>
      <p:sp>
        <p:nvSpPr>
          <p:cNvPr id="3" name="Rectangle 2"/>
          <p:cNvSpPr/>
          <p:nvPr/>
        </p:nvSpPr>
        <p:spPr>
          <a:xfrm>
            <a:off x="4891548" y="1248697"/>
            <a:ext cx="2408904" cy="381212"/>
          </a:xfrm>
          <a:prstGeom prst="rect">
            <a:avLst/>
          </a:prstGeom>
        </p:spPr>
        <p:txBody>
          <a:bodyPr wrap="square">
            <a:spAutoFit/>
          </a:bodyPr>
          <a:lstStyle/>
          <a:p>
            <a:r>
              <a:rPr lang="en-IN" b="1" dirty="0">
                <a:latin typeface="Calibri body"/>
                <a:cs typeface="Times New Roman" panose="02020603050405020304" pitchFamily="18" charset="0"/>
              </a:rPr>
              <a:t>CONCLUSION</a:t>
            </a:r>
            <a:endParaRPr lang="en-GB" b="1" dirty="0">
              <a:latin typeface="Calibri body"/>
            </a:endParaRPr>
          </a:p>
        </p:txBody>
      </p:sp>
    </p:spTree>
    <p:extLst>
      <p:ext uri="{BB962C8B-B14F-4D97-AF65-F5344CB8AC3E}">
        <p14:creationId xmlns:p14="http://schemas.microsoft.com/office/powerpoint/2010/main" val="24102463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79F7D-38A3-4A9A-9F8C-3EAE8F0FB739}"/>
              </a:ext>
            </a:extLst>
          </p:cNvPr>
          <p:cNvSpPr>
            <a:spLocks noGrp="1"/>
          </p:cNvSpPr>
          <p:nvPr>
            <p:ph type="title"/>
          </p:nvPr>
        </p:nvSpPr>
        <p:spPr>
          <a:xfrm>
            <a:off x="639097" y="296298"/>
            <a:ext cx="10550013" cy="3132702"/>
          </a:xfrm>
        </p:spPr>
        <p:txBody>
          <a:bodyPr>
            <a:noAutofit/>
          </a:bodyPr>
          <a:lstStyle/>
          <a:p>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REFERENCES</a:t>
            </a: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r>
              <a:rPr lang="en-IN" sz="2000" dirty="0"/>
              <a:t>Flask Documentation</a:t>
            </a:r>
            <a:br>
              <a:rPr lang="en-IN" sz="2000" dirty="0"/>
            </a:br>
            <a:r>
              <a:rPr lang="en-IN" sz="2000" dirty="0">
                <a:hlinkClick r:id="rId2"/>
              </a:rPr>
              <a:t>https://flask.palletsprojects.com/</a:t>
            </a:r>
            <a:r>
              <a:rPr lang="en-IN" sz="2000" dirty="0"/>
              <a:t> </a:t>
            </a:r>
            <a:br>
              <a:rPr lang="en-IN" sz="2000" dirty="0"/>
            </a:br>
            <a:r>
              <a:rPr lang="en-IN" sz="2000" dirty="0"/>
              <a:t>Python Documentation</a:t>
            </a:r>
            <a:br>
              <a:rPr lang="en-IN" sz="2000" dirty="0"/>
            </a:br>
            <a:r>
              <a:rPr lang="en-IN" sz="2000" dirty="0">
                <a:hlinkClick r:id="rId3"/>
              </a:rPr>
              <a:t>https://docs.python.org/</a:t>
            </a:r>
            <a:br>
              <a:rPr lang="en-IN" sz="2000" dirty="0"/>
            </a:br>
            <a:r>
              <a:rPr lang="en-IN" sz="2000" dirty="0"/>
              <a:t> MDN Web Documentation</a:t>
            </a:r>
            <a:br>
              <a:rPr lang="en-IN" sz="2000" dirty="0"/>
            </a:br>
            <a:r>
              <a:rPr lang="en-IN" sz="2000" dirty="0">
                <a:hlinkClick r:id="rId4"/>
              </a:rPr>
              <a:t>https://developer.mozilla.org/</a:t>
            </a:r>
            <a:r>
              <a:rPr lang="en-IN" sz="2000" dirty="0"/>
              <a:t> </a:t>
            </a:r>
            <a:br>
              <a:rPr lang="en-IN" sz="2000" dirty="0"/>
            </a:br>
            <a:r>
              <a:rPr lang="en-IN" sz="2000" dirty="0"/>
              <a:t>Natural Language Processing Concepts</a:t>
            </a:r>
            <a:br>
              <a:rPr lang="en-IN" sz="2000" dirty="0"/>
            </a:br>
            <a:r>
              <a:rPr lang="en-IN" sz="2000" dirty="0">
                <a:hlinkClick r:id="rId5"/>
              </a:rPr>
              <a:t>https://www.ibm.com/topics/natural-language-processing</a:t>
            </a:r>
            <a:r>
              <a:rPr lang="en-IN" sz="2000" dirty="0"/>
              <a:t> </a:t>
            </a:r>
            <a:br>
              <a:rPr lang="en-IN" sz="2000" dirty="0"/>
            </a:br>
            <a:r>
              <a:rPr lang="en-IN" sz="2000" dirty="0"/>
              <a:t>Speech Recognition API Documentation</a:t>
            </a:r>
            <a:br>
              <a:rPr lang="en-IN" sz="2000" dirty="0"/>
            </a:br>
            <a:r>
              <a:rPr lang="en-IN" sz="2000" dirty="0">
                <a:hlinkClick r:id="rId6"/>
              </a:rPr>
              <a:t>https://developer.mozilla.org/en-US/docs/Web/API/Web_Speech_API</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016768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2038477"/>
            <a:ext cx="8400288" cy="1325563"/>
          </a:xfrm>
        </p:spPr>
        <p:txBody>
          <a:bodyPr/>
          <a:lstStyle/>
          <a:p>
            <a:pPr algn="ctr"/>
            <a:r>
              <a:rPr lang="en-GB" dirty="0"/>
              <a:t>Any Queries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26035-83C1-4585-9B75-43608F907E5A}"/>
              </a:ext>
            </a:extLst>
          </p:cNvPr>
          <p:cNvSpPr>
            <a:spLocks noGrp="1"/>
          </p:cNvSpPr>
          <p:nvPr>
            <p:ph type="title"/>
          </p:nvPr>
        </p:nvSpPr>
        <p:spPr>
          <a:xfrm>
            <a:off x="993648" y="2331085"/>
            <a:ext cx="10515600" cy="1325563"/>
          </a:xfrm>
        </p:spPr>
        <p:txBody>
          <a:bodyPr>
            <a:normAutofit/>
          </a:bodyPr>
          <a:lstStyle/>
          <a:p>
            <a:pPr algn="ctr"/>
            <a:r>
              <a:rPr lang="en-US" sz="8900" dirty="0">
                <a:latin typeface="Times New Roman" pitchFamily="18" charset="0"/>
                <a:cs typeface="Times New Roman" pitchFamily="18" charset="0"/>
              </a:rPr>
              <a:t>THANK YOU</a:t>
            </a:r>
            <a:endParaRPr lang="en-IN" sz="8900" dirty="0">
              <a:latin typeface="Times New Roman" pitchFamily="18" charset="0"/>
              <a:cs typeface="Times New Roman" pitchFamily="18" charset="0"/>
            </a:endParaRPr>
          </a:p>
        </p:txBody>
      </p:sp>
    </p:spTree>
    <p:extLst>
      <p:ext uri="{BB962C8B-B14F-4D97-AF65-F5344CB8AC3E}">
        <p14:creationId xmlns:p14="http://schemas.microsoft.com/office/powerpoint/2010/main" val="68571617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860</TotalTime>
  <Words>943</Words>
  <Application>Microsoft Office PowerPoint</Application>
  <PresentationFormat>Widescreen</PresentationFormat>
  <Paragraphs>167</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Calibri body</vt:lpstr>
      <vt:lpstr>Calibri Light</vt:lpstr>
      <vt:lpstr>Times New Roman</vt:lpstr>
      <vt:lpstr>Office Theme</vt:lpstr>
      <vt:lpstr>PowerPoint Presentation</vt:lpstr>
      <vt:lpstr>Overview</vt:lpstr>
      <vt:lpstr>ABSTRACT</vt:lpstr>
      <vt:lpstr>EXISTING SYSTEM</vt:lpstr>
      <vt:lpstr>PowerPoint Presentation</vt:lpstr>
      <vt:lpstr>LITERATURE SURVEY</vt:lpstr>
      <vt:lpstr>SCOPE OF PROJECT </vt:lpstr>
      <vt:lpstr>PowerPoint Presentation</vt:lpstr>
      <vt:lpstr> </vt:lpstr>
      <vt:lpstr>HARDWARE REQUITREMENTS  Minimum Requirements: Processor: Intel i3 or above  RAM: 4 GB minimum  Storage: 500 MB available space  Input Devices: Keyboard  Mouse  Microphone (for voice input)  Display: Standard monitor  </vt:lpstr>
      <vt:lpstr>   SYSTEM ARCHITECTURE    </vt:lpstr>
      <vt:lpstr>        </vt:lpstr>
      <vt:lpstr>ALGORITHMS USED  1. Rule-Based Text Generation Algorithm Steps: Receive user input.  Analyze keywords.  Identify email category.  Select suitable template.  Generate subject.  Create email body.  Display final email.   2. Smart Subject Generation Algorithm Steps: Take user prompt.  Convert text into lowercase.  Match keywords.  Generate suitable subject.   </vt:lpstr>
      <vt:lpstr>CODE</vt:lpstr>
      <vt:lpstr>PowerPoint Presentation</vt:lpstr>
      <vt:lpstr>The AI Email Writer project provides an efficient solution for generating professional emails automatically. The application simplifies email writing by providing personalized content, multiple language support, tone selection, and useful productivity features. This project demonstrates how web technologies and intelligent text processing can improve everyday communication. </vt:lpstr>
      <vt:lpstr>               REFERENCES   Flask Documentation https://flask.palletsprojects.com/  Python Documentation https://docs.python.org/  MDN Web Documentation https://developer.mozilla.org/  Natural Language Processing Concepts https://www.ibm.com/topics/natural-language-processing  Speech Recognition API Documentation https://developer.mozilla.org/en-US/docs/Web/API/Web_Speech_API</vt:lpstr>
      <vt:lpstr>Any Queries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Shivah Sae</dc:creator>
  <cp:lastModifiedBy>sneha reddy</cp:lastModifiedBy>
  <cp:revision>59</cp:revision>
  <dcterms:created xsi:type="dcterms:W3CDTF">2021-02-21T08:37:01Z</dcterms:created>
  <dcterms:modified xsi:type="dcterms:W3CDTF">2026-06-10T21:52:44Z</dcterms:modified>
</cp:coreProperties>
</file>